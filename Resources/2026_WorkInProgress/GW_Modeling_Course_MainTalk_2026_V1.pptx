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56"/>
  </p:notesMasterIdLst>
  <p:sldIdLst>
    <p:sldId id="256" r:id="rId2"/>
    <p:sldId id="258" r:id="rId3"/>
    <p:sldId id="360" r:id="rId4"/>
    <p:sldId id="397" r:id="rId5"/>
    <p:sldId id="371" r:id="rId6"/>
    <p:sldId id="434" r:id="rId7"/>
    <p:sldId id="437" r:id="rId8"/>
    <p:sldId id="369" r:id="rId9"/>
    <p:sldId id="368" r:id="rId10"/>
    <p:sldId id="439" r:id="rId11"/>
    <p:sldId id="433" r:id="rId12"/>
    <p:sldId id="438" r:id="rId13"/>
    <p:sldId id="400" r:id="rId14"/>
    <p:sldId id="440" r:id="rId15"/>
    <p:sldId id="441" r:id="rId16"/>
    <p:sldId id="410" r:id="rId17"/>
    <p:sldId id="370" r:id="rId18"/>
    <p:sldId id="378" r:id="rId19"/>
    <p:sldId id="443" r:id="rId20"/>
    <p:sldId id="383" r:id="rId21"/>
    <p:sldId id="372" r:id="rId22"/>
    <p:sldId id="373" r:id="rId23"/>
    <p:sldId id="374" r:id="rId24"/>
    <p:sldId id="453" r:id="rId25"/>
    <p:sldId id="415" r:id="rId26"/>
    <p:sldId id="414" r:id="rId27"/>
    <p:sldId id="375" r:id="rId28"/>
    <p:sldId id="442" r:id="rId29"/>
    <p:sldId id="385" r:id="rId30"/>
    <p:sldId id="416" r:id="rId31"/>
    <p:sldId id="407" r:id="rId32"/>
    <p:sldId id="431" r:id="rId33"/>
    <p:sldId id="432" r:id="rId34"/>
    <p:sldId id="444" r:id="rId35"/>
    <p:sldId id="386" r:id="rId36"/>
    <p:sldId id="445" r:id="rId37"/>
    <p:sldId id="390" r:id="rId38"/>
    <p:sldId id="387" r:id="rId39"/>
    <p:sldId id="389" r:id="rId40"/>
    <p:sldId id="388" r:id="rId41"/>
    <p:sldId id="391" r:id="rId42"/>
    <p:sldId id="392" r:id="rId43"/>
    <p:sldId id="435" r:id="rId44"/>
    <p:sldId id="447" r:id="rId45"/>
    <p:sldId id="446" r:id="rId46"/>
    <p:sldId id="449" r:id="rId47"/>
    <p:sldId id="450" r:id="rId48"/>
    <p:sldId id="452" r:id="rId49"/>
    <p:sldId id="451" r:id="rId50"/>
    <p:sldId id="448" r:id="rId51"/>
    <p:sldId id="425" r:id="rId52"/>
    <p:sldId id="426" r:id="rId53"/>
    <p:sldId id="427" r:id="rId54"/>
    <p:sldId id="424" r:id="rId55"/>
  </p:sldIdLst>
  <p:sldSz cx="9144000" cy="6858000" type="screen4x3"/>
  <p:notesSz cx="7023100" cy="9309100"/>
  <p:embeddedFontLst>
    <p:embeddedFont>
      <p:font typeface="Cambria Math" panose="02040503050406030204" pitchFamily="18" charset="0"/>
      <p:regular r:id="rId57"/>
    </p:embeddedFont>
    <p:embeddedFont>
      <p:font typeface="Roboto Slab" pitchFamily="2" charset="0"/>
      <p:regular r:id="rId58"/>
      <p:bold r:id="rId59"/>
    </p:embeddedFont>
    <p:embeddedFont>
      <p:font typeface="Segoe UI" panose="020B0502040204020203" pitchFamily="34" charset="0"/>
      <p:regular r:id="rId60"/>
      <p:bold r:id="rId61"/>
      <p:italic r:id="rId62"/>
      <p:boldItalic r:id="rId63"/>
    </p:embeddedFont>
    <p:embeddedFont>
      <p:font typeface="Source Sans Pro" panose="020B0503030403020204" pitchFamily="34" charset="0"/>
      <p:regular r:id="rId64"/>
      <p:bold r:id="rId65"/>
      <p:italic r:id="rId66"/>
      <p:boldItalic r:id="rId67"/>
    </p:embeddedFont>
    <p:embeddedFont>
      <p:font typeface="Tahoma" panose="020B0604030504040204" pitchFamily="34" charset="0"/>
      <p:regular r:id="rId68"/>
      <p:bold r:id="rId69"/>
    </p:embeddedFont>
    <p:embeddedFont>
      <p:font typeface="Wingdings 2" panose="05020102010507070707" pitchFamily="18" charset="2"/>
      <p:regular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A. Clark" initials="JAC" lastIdx="2" clrIdx="0">
    <p:extLst>
      <p:ext uri="{19B8F6BF-5375-455C-9EA6-DF929625EA0E}">
        <p15:presenceInfo xmlns:p15="http://schemas.microsoft.com/office/powerpoint/2012/main" userId="S::jaclark@azwater.gov::fdefb503-01db-4c42-a137-80ee127a7f0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E4BF"/>
    <a:srgbClr val="00B050"/>
    <a:srgbClr val="3A81BA"/>
    <a:srgbClr val="0091EA"/>
    <a:srgbClr val="FEDFC2"/>
    <a:srgbClr val="DED6E9"/>
    <a:srgbClr val="FF0202"/>
    <a:srgbClr val="0000FF"/>
    <a:srgbClr val="FF0066"/>
    <a:srgbClr val="5FAF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61B8CB-93BD-4A77-A122-649D8F6C1F71}">
  <a:tblStyle styleId="{BE61B8CB-93BD-4A77-A122-649D8F6C1F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581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wrap="square" lIns="93577" tIns="93577" rIns="93577" bIns="93577" anchor="t" anchorCtr="0"/>
          <a:lstStyle>
            <a:lvl1pPr lvl="0">
              <a:spcBef>
                <a:spcPts val="0"/>
              </a:spcBef>
              <a:buSzPts val="1400"/>
              <a:buChar char="●"/>
              <a:defRPr sz="1100"/>
            </a:lvl1pPr>
            <a:lvl2pPr lvl="1">
              <a:spcBef>
                <a:spcPts val="0"/>
              </a:spcBef>
              <a:buSzPts val="1400"/>
              <a:buChar char="○"/>
              <a:defRPr sz="1100"/>
            </a:lvl2pPr>
            <a:lvl3pPr lvl="2">
              <a:spcBef>
                <a:spcPts val="0"/>
              </a:spcBef>
              <a:buSzPts val="1400"/>
              <a:buChar char="■"/>
              <a:defRPr sz="1100"/>
            </a:lvl3pPr>
            <a:lvl4pPr lvl="3">
              <a:spcBef>
                <a:spcPts val="0"/>
              </a:spcBef>
              <a:buSzPts val="1400"/>
              <a:buChar char="●"/>
              <a:defRPr sz="1100"/>
            </a:lvl4pPr>
            <a:lvl5pPr lvl="4">
              <a:spcBef>
                <a:spcPts val="0"/>
              </a:spcBef>
              <a:buSzPts val="1400"/>
              <a:buChar char="○"/>
              <a:defRPr sz="1100"/>
            </a:lvl5pPr>
            <a:lvl6pPr lvl="5">
              <a:spcBef>
                <a:spcPts val="0"/>
              </a:spcBef>
              <a:buSzPts val="1400"/>
              <a:buChar char="■"/>
              <a:defRPr sz="1100"/>
            </a:lvl6pPr>
            <a:lvl7pPr lvl="6">
              <a:spcBef>
                <a:spcPts val="0"/>
              </a:spcBef>
              <a:buSzPts val="1400"/>
              <a:buChar char="●"/>
              <a:defRPr sz="1100"/>
            </a:lvl7pPr>
            <a:lvl8pPr lvl="7">
              <a:spcBef>
                <a:spcPts val="0"/>
              </a:spcBef>
              <a:buSzPts val="1400"/>
              <a:buChar char="○"/>
              <a:defRPr sz="1100"/>
            </a:lvl8pPr>
            <a:lvl9pPr lvl="8">
              <a:spcBef>
                <a:spcPts val="0"/>
              </a:spcBef>
              <a:buSzPts val="14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85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028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056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9CA8A73-A28B-874A-741A-A470D8F7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DB74C095-820B-5EB5-9876-B2B24132E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8ED9225A-8101-3CF9-414D-3FDED1D31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764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46DE3AF1-E530-626B-48BD-6DD6772D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A9389840-29E4-3624-1A1B-D2AC47256B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D5864911-A2C4-1916-942D-9F6053D29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310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683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9516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320EAE8-8D28-DE66-7037-F5164A50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01EDD413-942C-9FC6-DFC6-98120AE07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D680C36A-8F22-EE8E-DCCC-C15FC9DE5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749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226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268094F-0D3C-891D-AAF8-EBA343163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5FA8B27F-AD2E-A4B5-99ED-E8A56F1EB7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0A12993F-65D1-CE14-93A3-C1BEAEEBF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025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2422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94E980F-ABA7-8322-F3CD-98A6E8BC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688C248F-890B-58F0-E9B0-CCC702278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5A723D25-FA0F-9974-E80B-0E45E1596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3109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5BAA87E-373B-0F7B-4533-C9F73178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72154819-9667-2218-96C7-B6386F464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FE36A13A-0C83-151C-28BB-C5AE99211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965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198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446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415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FB0985FD-F94A-D614-947D-24F4B62D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>
            <a:extLst>
              <a:ext uri="{FF2B5EF4-FFF2-40B4-BE49-F238E27FC236}">
                <a16:creationId xmlns:a16="http://schemas.microsoft.com/office/drawing/2014/main" id="{A8BFBE1C-D3D6-1098-D8FE-518D242B2C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Shape 246">
            <a:extLst>
              <a:ext uri="{FF2B5EF4-FFF2-40B4-BE49-F238E27FC236}">
                <a16:creationId xmlns:a16="http://schemas.microsoft.com/office/drawing/2014/main" id="{FE5D3D93-F8A2-BDF1-97F0-38539C080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549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1393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4551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6636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4338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3B125AE-1A1A-5AB6-4F3F-30D5B1F1F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B79663D7-5DDB-22B4-1D23-586A129B9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5286D7D3-C9D9-A309-144E-BC1D67967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852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8448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9477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43531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72EC346-C4DD-D7A4-D031-68EFD02C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2C808D79-79C4-95C6-A065-E1671D77AD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F21EE391-6724-4338-2346-0257FBF488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9520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577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7179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7932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37051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9618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3DFEE2F-A785-3551-53FA-798193E4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10350F53-6FA1-0C76-FED0-FB9C18974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159F2955-8CC8-472D-CACA-27C8362DB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3636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1715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8D84137-04D9-E96F-8471-436EF5A9F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3BF4D450-E4D8-49FB-C810-E12AA583A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A6212920-249D-E43D-0A19-010C1F1E6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983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4310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6495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9099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4112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4610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3208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15CD0FC7-014C-C73D-DEE7-C9B8B24B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>
            <a:extLst>
              <a:ext uri="{FF2B5EF4-FFF2-40B4-BE49-F238E27FC236}">
                <a16:creationId xmlns:a16="http://schemas.microsoft.com/office/drawing/2014/main" id="{C94D4152-DD45-410B-7B81-9B3359AB4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>
            <a:extLst>
              <a:ext uri="{FF2B5EF4-FFF2-40B4-BE49-F238E27FC236}">
                <a16:creationId xmlns:a16="http://schemas.microsoft.com/office/drawing/2014/main" id="{E1894B3F-B87B-3735-79CB-DB195396A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18170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720B8640-E6CA-8E95-3B6E-C8B032BA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>
            <a:extLst>
              <a:ext uri="{FF2B5EF4-FFF2-40B4-BE49-F238E27FC236}">
                <a16:creationId xmlns:a16="http://schemas.microsoft.com/office/drawing/2014/main" id="{079C0315-A4AB-EF3A-7F0F-6749B70CFF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>
            <a:extLst>
              <a:ext uri="{FF2B5EF4-FFF2-40B4-BE49-F238E27FC236}">
                <a16:creationId xmlns:a16="http://schemas.microsoft.com/office/drawing/2014/main" id="{EAED8E9D-9E3A-2F4E-EA08-9D503050B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946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2B4208-D706-19CA-869B-E5A3A4CD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D2454EC4-82B4-1F96-E2E6-61788EBEE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47BD38F1-77DA-DE22-C64D-0BD47E33E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44895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2A042F0-92A7-6392-D052-DF41BDC11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A6EA27CE-7B78-5645-6320-0E2D5317B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89EF4D7C-6407-B53E-90BB-31FB05AEC0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9003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AAF467A-EB18-29D5-55DB-7DB85988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AC97D849-8CE8-BA60-3765-727EA1AFB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9DCD8B2A-26D6-3E5E-5485-F09ED9059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5984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E151F2B-CE73-7EDE-62DB-4912A4B9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34D92902-6903-17E3-8E0E-D06920B67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052EB910-9D3E-8DA1-5329-9CFA16874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5803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46837A47-D8D4-1202-B77A-69C9009F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AE19E8AD-D742-9148-DDC7-49011C0F14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B12362EC-B07D-0D34-1E19-77007FFF6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99443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4EDF2787-43FE-5115-FE84-67AC72A6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>
            <a:extLst>
              <a:ext uri="{FF2B5EF4-FFF2-40B4-BE49-F238E27FC236}">
                <a16:creationId xmlns:a16="http://schemas.microsoft.com/office/drawing/2014/main" id="{3E78B428-50CB-F64F-1907-9583FED3E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>
            <a:extLst>
              <a:ext uri="{FF2B5EF4-FFF2-40B4-BE49-F238E27FC236}">
                <a16:creationId xmlns:a16="http://schemas.microsoft.com/office/drawing/2014/main" id="{51FAFADD-C7A1-036F-EAF2-D457C9C95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9979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8882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8143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0314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Shape 373"/>
          <p:cNvSpPr txBox="1">
            <a:spLocks noGrp="1"/>
          </p:cNvSpPr>
          <p:nvPr>
            <p:ph type="body" idx="1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wrap="square" lIns="93577" tIns="93577" rIns="93577" bIns="93577" anchor="t" anchorCtr="0">
            <a:noAutofit/>
          </a:bodyPr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760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1700185" y="1360350"/>
            <a:ext cx="5807400" cy="1546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defRPr>
            </a:lvl1pPr>
            <a:lvl2pPr lvl="1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2pPr>
            <a:lvl3pPr lvl="2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3pPr>
            <a:lvl4pPr lvl="3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4pPr>
            <a:lvl5pPr lvl="4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5pPr>
            <a:lvl6pPr lvl="5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6pPr>
            <a:lvl7pPr lvl="6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7pPr>
            <a:lvl8pPr lvl="7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8pPr>
            <a:lvl9pPr lvl="8">
              <a:spcBef>
                <a:spcPts val="0"/>
              </a:spcBef>
              <a:buClr>
                <a:srgbClr val="0091EA"/>
              </a:buClr>
              <a:buSzPts val="6000"/>
              <a:buNone/>
              <a:defRPr sz="6000" b="1">
                <a:solidFill>
                  <a:srgbClr val="0091EA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Shape 11"/>
          <p:cNvSpPr/>
          <p:nvPr/>
        </p:nvSpPr>
        <p:spPr>
          <a:xfrm>
            <a:off x="6897625" y="6199950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7454375" y="5638800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827727" y="4597554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8677050" y="6577875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2972225" y="633400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579635" y="3373479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11843" y="791518"/>
            <a:ext cx="126900" cy="126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26322" y="1339872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8104500" y="4963100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8803950" y="5654657"/>
            <a:ext cx="190200" cy="1905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196310" y="1990890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1738050" y="271322"/>
            <a:ext cx="253800" cy="2538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771659" y="2504485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4271584" y="474825"/>
            <a:ext cx="75900" cy="75900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729213" y="6127438"/>
            <a:ext cx="253800" cy="25410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ColTx">
  <p:cSld name="Title + 2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786150" y="410826"/>
            <a:ext cx="7571700" cy="9369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000"/>
              <a:buNone/>
              <a:defRPr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defRPr>
            </a:lvl1pPr>
            <a:lvl2pPr lvl="1">
              <a:spcBef>
                <a:spcPts val="0"/>
              </a:spcBef>
              <a:buSzPts val="2000"/>
              <a:buNone/>
              <a:defRPr/>
            </a:lvl2pPr>
            <a:lvl3pPr lvl="2">
              <a:spcBef>
                <a:spcPts val="0"/>
              </a:spcBef>
              <a:buSzPts val="2000"/>
              <a:buNone/>
              <a:defRPr/>
            </a:lvl3pPr>
            <a:lvl4pPr lvl="3">
              <a:spcBef>
                <a:spcPts val="0"/>
              </a:spcBef>
              <a:buSzPts val="2000"/>
              <a:buNone/>
              <a:defRPr/>
            </a:lvl4pPr>
            <a:lvl5pPr lvl="4">
              <a:spcBef>
                <a:spcPts val="0"/>
              </a:spcBef>
              <a:buSzPts val="2000"/>
              <a:buNone/>
              <a:defRPr/>
            </a:lvl5pPr>
            <a:lvl6pPr lvl="5">
              <a:spcBef>
                <a:spcPts val="0"/>
              </a:spcBef>
              <a:buSzPts val="2000"/>
              <a:buNone/>
              <a:defRPr/>
            </a:lvl6pPr>
            <a:lvl7pPr lvl="6">
              <a:spcBef>
                <a:spcPts val="0"/>
              </a:spcBef>
              <a:buSzPts val="2000"/>
              <a:buNone/>
              <a:defRPr/>
            </a:lvl7pPr>
            <a:lvl8pPr lvl="7">
              <a:spcBef>
                <a:spcPts val="0"/>
              </a:spcBef>
              <a:buSzPts val="2000"/>
              <a:buNone/>
              <a:defRPr/>
            </a:lvl8pPr>
            <a:lvl9pPr lvl="8">
              <a:spcBef>
                <a:spcPts val="0"/>
              </a:spcBef>
              <a:buSzPts val="2000"/>
              <a:buNone/>
              <a:defRPr/>
            </a:lvl9pPr>
          </a:lstStyle>
          <a:p>
            <a:endParaRPr dirty="0"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786137" y="1600200"/>
            <a:ext cx="3675300" cy="4967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600"/>
              <a:buChar char="◎"/>
              <a:def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>
              <a:spcBef>
                <a:spcPts val="0"/>
              </a:spcBef>
              <a:buSzPts val="2600"/>
              <a:buChar char="○"/>
              <a:defRPr sz="2600"/>
            </a:lvl2pPr>
            <a:lvl3pPr lvl="2">
              <a:spcBef>
                <a:spcPts val="0"/>
              </a:spcBef>
              <a:buSzPts val="2600"/>
              <a:buChar char="◉"/>
              <a:defRPr sz="2600"/>
            </a:lvl3pPr>
            <a:lvl4pPr lvl="3">
              <a:spcBef>
                <a:spcPts val="0"/>
              </a:spcBef>
              <a:buSzPts val="2600"/>
              <a:buChar char="●"/>
              <a:defRPr sz="2600"/>
            </a:lvl4pPr>
            <a:lvl5pPr lvl="4">
              <a:spcBef>
                <a:spcPts val="0"/>
              </a:spcBef>
              <a:buSzPts val="2600"/>
              <a:buChar char="○"/>
              <a:defRPr sz="2600"/>
            </a:lvl5pPr>
            <a:lvl6pPr lvl="5">
              <a:spcBef>
                <a:spcPts val="0"/>
              </a:spcBef>
              <a:buSzPts val="2600"/>
              <a:buChar char="■"/>
              <a:defRPr sz="2600"/>
            </a:lvl6pPr>
            <a:lvl7pPr lvl="6">
              <a:spcBef>
                <a:spcPts val="0"/>
              </a:spcBef>
              <a:buSzPts val="2600"/>
              <a:buChar char="●"/>
              <a:defRPr sz="2600"/>
            </a:lvl7pPr>
            <a:lvl8pPr lvl="7">
              <a:spcBef>
                <a:spcPts val="0"/>
              </a:spcBef>
              <a:buSzPts val="2600"/>
              <a:buChar char="○"/>
              <a:defRPr sz="2600"/>
            </a:lvl8pPr>
            <a:lvl9pPr lvl="8">
              <a:spcBef>
                <a:spcPts val="0"/>
              </a:spcBef>
              <a:buSzPts val="2600"/>
              <a:buChar char="■"/>
              <a:defRPr sz="2600"/>
            </a:lvl9pPr>
          </a:lstStyle>
          <a:p>
            <a:endParaRPr dirty="0"/>
          </a:p>
        </p:txBody>
      </p:sp>
      <p:sp>
        <p:nvSpPr>
          <p:cNvPr id="47" name="Shape 47"/>
          <p:cNvSpPr txBox="1">
            <a:spLocks noGrp="1"/>
          </p:cNvSpPr>
          <p:nvPr>
            <p:ph type="body" idx="2"/>
          </p:nvPr>
        </p:nvSpPr>
        <p:spPr>
          <a:xfrm>
            <a:off x="4682659" y="1600200"/>
            <a:ext cx="3675300" cy="4967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600"/>
              <a:buChar char="◎"/>
              <a:def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>
              <a:spcBef>
                <a:spcPts val="0"/>
              </a:spcBef>
              <a:buSzPts val="2600"/>
              <a:buChar char="○"/>
              <a:defRPr sz="2600"/>
            </a:lvl2pPr>
            <a:lvl3pPr lvl="2">
              <a:spcBef>
                <a:spcPts val="0"/>
              </a:spcBef>
              <a:buSzPts val="2600"/>
              <a:buChar char="◉"/>
              <a:defRPr sz="2600"/>
            </a:lvl3pPr>
            <a:lvl4pPr lvl="3">
              <a:spcBef>
                <a:spcPts val="0"/>
              </a:spcBef>
              <a:buSzPts val="2600"/>
              <a:buChar char="●"/>
              <a:defRPr sz="2600"/>
            </a:lvl4pPr>
            <a:lvl5pPr lvl="4">
              <a:spcBef>
                <a:spcPts val="0"/>
              </a:spcBef>
              <a:buSzPts val="2600"/>
              <a:buChar char="○"/>
              <a:defRPr sz="2600"/>
            </a:lvl5pPr>
            <a:lvl6pPr lvl="5">
              <a:spcBef>
                <a:spcPts val="0"/>
              </a:spcBef>
              <a:buSzPts val="2600"/>
              <a:buChar char="■"/>
              <a:defRPr sz="2600"/>
            </a:lvl6pPr>
            <a:lvl7pPr lvl="6">
              <a:spcBef>
                <a:spcPts val="0"/>
              </a:spcBef>
              <a:buSzPts val="2600"/>
              <a:buChar char="●"/>
              <a:defRPr sz="2600"/>
            </a:lvl7pPr>
            <a:lvl8pPr lvl="7">
              <a:spcBef>
                <a:spcPts val="0"/>
              </a:spcBef>
              <a:buSzPts val="2600"/>
              <a:buChar char="○"/>
              <a:defRPr sz="2600"/>
            </a:lvl8pPr>
            <a:lvl9pPr lvl="8">
              <a:spcBef>
                <a:spcPts val="0"/>
              </a:spcBef>
              <a:buSzPts val="2600"/>
              <a:buChar char="■"/>
              <a:defRPr sz="2600"/>
            </a:lvl9pPr>
          </a:lstStyle>
          <a:p>
            <a:endParaRPr dirty="0"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+ 3 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786150" y="410826"/>
            <a:ext cx="7571700" cy="9369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buSzPts val="2000"/>
              <a:buNone/>
              <a:defRPr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defRPr>
            </a:lvl1pPr>
            <a:lvl2pPr lvl="1" rtl="0">
              <a:spcBef>
                <a:spcPts val="0"/>
              </a:spcBef>
              <a:buSzPts val="2000"/>
              <a:buNone/>
              <a:defRPr/>
            </a:lvl2pPr>
            <a:lvl3pPr lvl="2" rtl="0">
              <a:spcBef>
                <a:spcPts val="0"/>
              </a:spcBef>
              <a:buSzPts val="2000"/>
              <a:buNone/>
              <a:defRPr/>
            </a:lvl3pPr>
            <a:lvl4pPr lvl="3" rtl="0">
              <a:spcBef>
                <a:spcPts val="0"/>
              </a:spcBef>
              <a:buSzPts val="2000"/>
              <a:buNone/>
              <a:defRPr/>
            </a:lvl4pPr>
            <a:lvl5pPr lvl="4" rtl="0">
              <a:spcBef>
                <a:spcPts val="0"/>
              </a:spcBef>
              <a:buSzPts val="2000"/>
              <a:buNone/>
              <a:defRPr/>
            </a:lvl5pPr>
            <a:lvl6pPr lvl="5" rtl="0">
              <a:spcBef>
                <a:spcPts val="0"/>
              </a:spcBef>
              <a:buSzPts val="2000"/>
              <a:buNone/>
              <a:defRPr/>
            </a:lvl6pPr>
            <a:lvl7pPr lvl="6" rtl="0">
              <a:spcBef>
                <a:spcPts val="0"/>
              </a:spcBef>
              <a:buSzPts val="2000"/>
              <a:buNone/>
              <a:defRPr/>
            </a:lvl7pPr>
            <a:lvl8pPr lvl="7" rtl="0">
              <a:spcBef>
                <a:spcPts val="0"/>
              </a:spcBef>
              <a:buSzPts val="2000"/>
              <a:buNone/>
              <a:defRPr/>
            </a:lvl8pPr>
            <a:lvl9pPr lvl="8" rtl="0">
              <a:spcBef>
                <a:spcPts val="0"/>
              </a:spcBef>
              <a:buSzPts val="2000"/>
              <a:buNone/>
              <a:defRPr/>
            </a:lvl9pPr>
          </a:lstStyle>
          <a:p>
            <a:endParaRPr dirty="0"/>
          </a:p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786150" y="1600200"/>
            <a:ext cx="2419800" cy="4967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ts val="2000"/>
              <a:buChar char="◎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buSzPts val="2000"/>
              <a:buChar char="○"/>
              <a:defRPr sz="2000"/>
            </a:lvl2pPr>
            <a:lvl3pPr lvl="2" rtl="0">
              <a:spcBef>
                <a:spcPts val="0"/>
              </a:spcBef>
              <a:buSzPts val="2000"/>
              <a:buChar char="◉"/>
              <a:defRPr sz="2000"/>
            </a:lvl3pPr>
            <a:lvl4pPr lvl="3" rtl="0">
              <a:spcBef>
                <a:spcPts val="0"/>
              </a:spcBef>
              <a:buSzPts val="2000"/>
              <a:buChar char="●"/>
              <a:defRPr sz="2000"/>
            </a:lvl4pPr>
            <a:lvl5pPr lvl="4" rtl="0">
              <a:spcBef>
                <a:spcPts val="0"/>
              </a:spcBef>
              <a:buSzPts val="2000"/>
              <a:buChar char="○"/>
              <a:defRPr sz="2000"/>
            </a:lvl5pPr>
            <a:lvl6pPr lvl="5" rtl="0">
              <a:spcBef>
                <a:spcPts val="0"/>
              </a:spcBef>
              <a:buSzPts val="2000"/>
              <a:buChar char="■"/>
              <a:defRPr sz="2000"/>
            </a:lvl6pPr>
            <a:lvl7pPr lvl="6" rtl="0">
              <a:spcBef>
                <a:spcPts val="0"/>
              </a:spcBef>
              <a:buSzPts val="2000"/>
              <a:buChar char="●"/>
              <a:defRPr sz="2000"/>
            </a:lvl7pPr>
            <a:lvl8pPr lvl="7" rtl="0">
              <a:spcBef>
                <a:spcPts val="0"/>
              </a:spcBef>
              <a:buSzPts val="2000"/>
              <a:buChar char="○"/>
              <a:defRPr sz="2000"/>
            </a:lvl8pPr>
            <a:lvl9pPr lvl="8" rtl="0">
              <a:spcBef>
                <a:spcPts val="0"/>
              </a:spcBef>
              <a:buSzPts val="2000"/>
              <a:buChar char="■"/>
              <a:defRPr sz="2000"/>
            </a:lvl9pPr>
          </a:lstStyle>
          <a:p>
            <a:endParaRPr dirty="0"/>
          </a:p>
        </p:txBody>
      </p:sp>
      <p:sp>
        <p:nvSpPr>
          <p:cNvPr id="52" name="Shape 52"/>
          <p:cNvSpPr txBox="1">
            <a:spLocks noGrp="1"/>
          </p:cNvSpPr>
          <p:nvPr>
            <p:ph type="body" idx="2"/>
          </p:nvPr>
        </p:nvSpPr>
        <p:spPr>
          <a:xfrm>
            <a:off x="3329992" y="1600200"/>
            <a:ext cx="2419800" cy="4967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ts val="2000"/>
              <a:buChar char="◎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buSzPts val="2000"/>
              <a:buChar char="○"/>
              <a:defRPr sz="2000"/>
            </a:lvl2pPr>
            <a:lvl3pPr lvl="2" rtl="0">
              <a:spcBef>
                <a:spcPts val="0"/>
              </a:spcBef>
              <a:buSzPts val="2000"/>
              <a:buChar char="◉"/>
              <a:defRPr sz="2000"/>
            </a:lvl3pPr>
            <a:lvl4pPr lvl="3" rtl="0">
              <a:spcBef>
                <a:spcPts val="0"/>
              </a:spcBef>
              <a:buSzPts val="2000"/>
              <a:buChar char="●"/>
              <a:defRPr sz="2000"/>
            </a:lvl4pPr>
            <a:lvl5pPr lvl="4" rtl="0">
              <a:spcBef>
                <a:spcPts val="0"/>
              </a:spcBef>
              <a:buSzPts val="2000"/>
              <a:buChar char="○"/>
              <a:defRPr sz="2000"/>
            </a:lvl5pPr>
            <a:lvl6pPr lvl="5" rtl="0">
              <a:spcBef>
                <a:spcPts val="0"/>
              </a:spcBef>
              <a:buSzPts val="2000"/>
              <a:buChar char="■"/>
              <a:defRPr sz="2000"/>
            </a:lvl6pPr>
            <a:lvl7pPr lvl="6" rtl="0">
              <a:spcBef>
                <a:spcPts val="0"/>
              </a:spcBef>
              <a:buSzPts val="2000"/>
              <a:buChar char="●"/>
              <a:defRPr sz="2000"/>
            </a:lvl7pPr>
            <a:lvl8pPr lvl="7" rtl="0">
              <a:spcBef>
                <a:spcPts val="0"/>
              </a:spcBef>
              <a:buSzPts val="2000"/>
              <a:buChar char="○"/>
              <a:defRPr sz="2000"/>
            </a:lvl8pPr>
            <a:lvl9pPr lvl="8" rtl="0">
              <a:spcBef>
                <a:spcPts val="0"/>
              </a:spcBef>
              <a:buSzPts val="2000"/>
              <a:buChar char="■"/>
              <a:defRPr sz="2000"/>
            </a:lvl9pPr>
          </a:lstStyle>
          <a:p>
            <a:endParaRPr dirty="0"/>
          </a:p>
        </p:txBody>
      </p:sp>
      <p:sp>
        <p:nvSpPr>
          <p:cNvPr id="53" name="Shape 53"/>
          <p:cNvSpPr txBox="1">
            <a:spLocks noGrp="1"/>
          </p:cNvSpPr>
          <p:nvPr>
            <p:ph type="body" idx="3"/>
          </p:nvPr>
        </p:nvSpPr>
        <p:spPr>
          <a:xfrm>
            <a:off x="5873834" y="1600200"/>
            <a:ext cx="2419800" cy="4967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ts val="2000"/>
              <a:buChar char="◎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buSzPts val="2000"/>
              <a:buChar char="○"/>
              <a:defRPr sz="2000"/>
            </a:lvl2pPr>
            <a:lvl3pPr lvl="2" rtl="0">
              <a:spcBef>
                <a:spcPts val="0"/>
              </a:spcBef>
              <a:buSzPts val="2000"/>
              <a:buChar char="◉"/>
              <a:defRPr sz="2000"/>
            </a:lvl3pPr>
            <a:lvl4pPr lvl="3" rtl="0">
              <a:spcBef>
                <a:spcPts val="0"/>
              </a:spcBef>
              <a:buSzPts val="2000"/>
              <a:buChar char="●"/>
              <a:defRPr sz="2000"/>
            </a:lvl4pPr>
            <a:lvl5pPr lvl="4" rtl="0">
              <a:spcBef>
                <a:spcPts val="0"/>
              </a:spcBef>
              <a:buSzPts val="2000"/>
              <a:buChar char="○"/>
              <a:defRPr sz="2000"/>
            </a:lvl5pPr>
            <a:lvl6pPr lvl="5" rtl="0">
              <a:spcBef>
                <a:spcPts val="0"/>
              </a:spcBef>
              <a:buSzPts val="2000"/>
              <a:buChar char="■"/>
              <a:defRPr sz="2000"/>
            </a:lvl6pPr>
            <a:lvl7pPr lvl="6" rtl="0">
              <a:spcBef>
                <a:spcPts val="0"/>
              </a:spcBef>
              <a:buSzPts val="2000"/>
              <a:buChar char="●"/>
              <a:defRPr sz="2000"/>
            </a:lvl7pPr>
            <a:lvl8pPr lvl="7" rtl="0">
              <a:spcBef>
                <a:spcPts val="0"/>
              </a:spcBef>
              <a:buSzPts val="2000"/>
              <a:buChar char="○"/>
              <a:defRPr sz="2000"/>
            </a:lvl8pPr>
            <a:lvl9pPr lvl="8" rtl="0">
              <a:spcBef>
                <a:spcPts val="0"/>
              </a:spcBef>
              <a:buSzPts val="2000"/>
              <a:buChar char="■"/>
              <a:defRPr sz="2000"/>
            </a:lvl9pPr>
          </a:lstStyle>
          <a:p>
            <a:endParaRPr dirty="0"/>
          </a:p>
        </p:txBody>
      </p:sp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 complete patter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-26550" y="-19800"/>
            <a:ext cx="9197100" cy="68976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Shape 65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786150" y="410826"/>
            <a:ext cx="7571700" cy="936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buClr>
                <a:srgbClr val="0091EA"/>
              </a:buClr>
              <a:buSzPts val="2000"/>
              <a:buFont typeface="Roboto Slab"/>
              <a:buNone/>
              <a:defRPr sz="2000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786150" y="1682267"/>
            <a:ext cx="7571700" cy="476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CFD8DC"/>
              </a:buClr>
              <a:buSzPts val="3000"/>
              <a:buFont typeface="Source Sans Pro"/>
              <a:buChar char="◎"/>
              <a:defRPr sz="30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480"/>
              </a:spcBef>
              <a:buClr>
                <a:srgbClr val="CFD8DC"/>
              </a:buClr>
              <a:buSzPts val="2400"/>
              <a:buFont typeface="Source Sans Pro"/>
              <a:buChar char="○"/>
              <a:defRPr sz="24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480"/>
              </a:spcBef>
              <a:buClr>
                <a:srgbClr val="CFD8DC"/>
              </a:buClr>
              <a:buSzPts val="2400"/>
              <a:buFont typeface="Source Sans Pro"/>
              <a:buChar char="◉"/>
              <a:defRPr sz="24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360"/>
              </a:spcBef>
              <a:buClr>
                <a:srgbClr val="CFD8DC"/>
              </a:buClr>
              <a:buSzPts val="1800"/>
              <a:buFont typeface="Source Sans Pro"/>
              <a:buChar char="●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360"/>
              </a:spcBef>
              <a:buClr>
                <a:srgbClr val="CFD8DC"/>
              </a:buClr>
              <a:buSzPts val="1800"/>
              <a:buFont typeface="Source Sans Pro"/>
              <a:buChar char="○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360"/>
              </a:spcBef>
              <a:buClr>
                <a:srgbClr val="CFD8DC"/>
              </a:buClr>
              <a:buSzPts val="1800"/>
              <a:buFont typeface="Source Sans Pro"/>
              <a:buChar char="■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360"/>
              </a:spcBef>
              <a:buClr>
                <a:srgbClr val="CFD8DC"/>
              </a:buClr>
              <a:buSzPts val="1800"/>
              <a:buFont typeface="Source Sans Pro"/>
              <a:buChar char="●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360"/>
              </a:spcBef>
              <a:buClr>
                <a:srgbClr val="CFD8DC"/>
              </a:buClr>
              <a:buSzPts val="1800"/>
              <a:buFont typeface="Source Sans Pro"/>
              <a:buChar char="○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360"/>
              </a:spcBef>
              <a:buClr>
                <a:srgbClr val="CFD8DC"/>
              </a:buClr>
              <a:buSzPts val="1800"/>
              <a:buFont typeface="Source Sans Pro"/>
              <a:buChar char="■"/>
              <a:defRPr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/>
            <a:fld id="{00000000-1234-1234-1234-123412341234}" type="slidenum">
              <a:rPr lang="en" sz="1300" b="1" smtClean="0">
                <a:solidFill>
                  <a:srgbClr val="0091EA"/>
                </a:solidFill>
                <a:sym typeface="Source Sans Pro"/>
              </a:rPr>
              <a:pPr algn="r"/>
              <a:t>‹#›</a:t>
            </a:fld>
            <a:endParaRPr lang="en" sz="1300" b="1" dirty="0">
              <a:solidFill>
                <a:srgbClr val="0091EA"/>
              </a:solidFill>
              <a:sym typeface="Source Sans Pr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6" r:id="rId4"/>
    <p:sldLayoutId id="2147483657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jpe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ctrTitle"/>
          </p:nvPr>
        </p:nvSpPr>
        <p:spPr>
          <a:xfrm>
            <a:off x="633518" y="1056580"/>
            <a:ext cx="8443546" cy="15465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/>
            <a:r>
              <a:rPr lang="en-US" sz="4000" dirty="0">
                <a:solidFill>
                  <a:srgbClr val="3499CD"/>
                </a:solidFill>
              </a:rPr>
              <a:t>Introduction to Building and Running Groundwater Models</a:t>
            </a:r>
            <a:endParaRPr lang="en" sz="4000" dirty="0">
              <a:solidFill>
                <a:srgbClr val="3499CD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69CC3-0BAC-4148-87D9-9713A20DE0B1}"/>
              </a:ext>
            </a:extLst>
          </p:cNvPr>
          <p:cNvSpPr txBox="1">
            <a:spLocks/>
          </p:cNvSpPr>
          <p:nvPr/>
        </p:nvSpPr>
        <p:spPr>
          <a:xfrm>
            <a:off x="1307123" y="3347546"/>
            <a:ext cx="7060129" cy="328973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ARIZONA </a:t>
            </a:r>
            <a:r>
              <a:rPr lang="en-US" sz="2800" b="1" dirty="0">
                <a:solidFill>
                  <a:srgbClr val="3499CD"/>
                </a:solidFill>
                <a:latin typeface="Segoe UI" panose="020B0502040204020203" pitchFamily="34" charset="0"/>
                <a:ea typeface="Segoe UI Historic" panose="020B0502040204020203" pitchFamily="34" charset="0"/>
                <a:cs typeface="Segoe UI" panose="020B0502040204020203" pitchFamily="34" charset="0"/>
              </a:rPr>
              <a:t>HYDROLOGICAL</a:t>
            </a:r>
            <a:r>
              <a:rPr lang="en-US" sz="28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SOCIETY</a:t>
            </a:r>
          </a:p>
          <a:p>
            <a:pPr algn="ctr"/>
            <a:r>
              <a:rPr lang="en-US" sz="24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PHOENIX CHAPTER</a:t>
            </a:r>
            <a:r>
              <a:rPr lang="en-US" sz="2400" b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 </a:t>
            </a:r>
            <a:endParaRPr lang="en-US" sz="2800" b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2400" b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October 1st, 2026</a:t>
            </a:r>
            <a:endParaRPr lang="en-US" sz="2800" b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  <a:p>
            <a:pPr algn="ctr"/>
            <a:endParaRPr lang="en-US" sz="28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2800" b="1" i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 </a:t>
            </a:r>
            <a:br>
              <a:rPr lang="en-US" sz="1800" b="1" i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</a:br>
            <a:r>
              <a:rPr lang="en-US" sz="1800" b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Nathan Miller</a:t>
            </a:r>
            <a:br>
              <a:rPr lang="en-US" sz="1800" b="1" i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</a:br>
            <a:r>
              <a:rPr lang="en-US" sz="1800" b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Justin Clark</a:t>
            </a:r>
            <a:br>
              <a:rPr lang="en-US" sz="1800" b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Instructors</a:t>
            </a:r>
            <a:endParaRPr lang="en-US" sz="1800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56503-87B7-428D-B639-98B8C02E74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9721" y="4035968"/>
            <a:ext cx="1988965" cy="2300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subTitle" idx="4294967295"/>
          </p:nvPr>
        </p:nvSpPr>
        <p:spPr>
          <a:xfrm>
            <a:off x="1451894" y="1768533"/>
            <a:ext cx="5220617" cy="200180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Nathan Miller</a:t>
            </a:r>
          </a:p>
          <a:p>
            <a:pPr lvl="0">
              <a:spcBef>
                <a:spcPts val="0"/>
              </a:spcBef>
              <a:buNone/>
            </a:pPr>
            <a:endParaRPr lang="en-US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>
              <a:spcBef>
                <a:spcPts val="0"/>
              </a:spcBef>
              <a:buNone/>
            </a:pPr>
            <a:endParaRPr lang="en-US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>
              <a:spcBef>
                <a:spcPts val="0"/>
              </a:spcBef>
              <a:buNone/>
            </a:pPr>
            <a:endParaRPr lang="en" sz="105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Shape 87"/>
          <p:cNvSpPr txBox="1">
            <a:spLocks noGrp="1"/>
          </p:cNvSpPr>
          <p:nvPr>
            <p:ph type="body" idx="4294967295"/>
          </p:nvPr>
        </p:nvSpPr>
        <p:spPr>
          <a:xfrm>
            <a:off x="894079" y="2274654"/>
            <a:ext cx="6798027" cy="1820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President of Arizona </a:t>
            </a:r>
            <a:b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Matrix New World / True Environmental (Since 2007)</a:t>
            </a:r>
          </a:p>
        </p:txBody>
      </p:sp>
      <p:sp>
        <p:nvSpPr>
          <p:cNvPr id="85" name="Shape 85"/>
          <p:cNvSpPr txBox="1">
            <a:spLocks noGrp="1"/>
          </p:cNvSpPr>
          <p:nvPr>
            <p:ph type="ctrTitle" idx="4294967295"/>
          </p:nvPr>
        </p:nvSpPr>
        <p:spPr>
          <a:xfrm>
            <a:off x="1584077" y="316938"/>
            <a:ext cx="5642100" cy="15465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4800" b="1" dirty="0"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BIOS</a:t>
            </a:r>
            <a:endParaRPr lang="en" sz="5400" b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2" name="Shape 92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2</a:t>
            </a:fld>
            <a:endParaRPr lang="en"/>
          </a:p>
        </p:txBody>
      </p:sp>
      <p:pic>
        <p:nvPicPr>
          <p:cNvPr id="5" name="Picture 4" descr="A person in a suit smiling&#10;&#10;AI-generated content may be incorrect.">
            <a:extLst>
              <a:ext uri="{FF2B5EF4-FFF2-40B4-BE49-F238E27FC236}">
                <a16:creationId xmlns:a16="http://schemas.microsoft.com/office/drawing/2014/main" id="{13CEE742-FA3C-E2D4-4FE7-BC5F726F5BD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3883" y="4142231"/>
            <a:ext cx="1648709" cy="1915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10AA4E-41D6-5443-D51E-E673FC7872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053" y="6079204"/>
            <a:ext cx="1724368" cy="718486"/>
          </a:xfrm>
          <a:prstGeom prst="rect">
            <a:avLst/>
          </a:prstGeom>
        </p:spPr>
      </p:pic>
      <p:sp>
        <p:nvSpPr>
          <p:cNvPr id="2" name="Shape 86">
            <a:extLst>
              <a:ext uri="{FF2B5EF4-FFF2-40B4-BE49-F238E27FC236}">
                <a16:creationId xmlns:a16="http://schemas.microsoft.com/office/drawing/2014/main" id="{06C86C74-FB00-94F0-725B-3F927A4F7489}"/>
              </a:ext>
            </a:extLst>
          </p:cNvPr>
          <p:cNvSpPr txBox="1">
            <a:spLocks/>
          </p:cNvSpPr>
          <p:nvPr/>
        </p:nvSpPr>
        <p:spPr>
          <a:xfrm>
            <a:off x="2903788" y="4147486"/>
            <a:ext cx="5220617" cy="200180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spcBef>
                <a:spcPts val="0"/>
              </a:spcBef>
              <a:buFont typeface="Source Sans Pro"/>
              <a:buNone/>
            </a:pPr>
            <a:r>
              <a:rPr lang="en-US"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Justin Clark</a:t>
            </a:r>
          </a:p>
          <a:p>
            <a:pPr>
              <a:spcBef>
                <a:spcPts val="0"/>
              </a:spcBef>
              <a:buFont typeface="Source Sans Pro"/>
              <a:buNone/>
            </a:pPr>
            <a:endParaRPr lang="en-US" sz="36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0"/>
              </a:spcBef>
              <a:buFont typeface="Source Sans Pro"/>
              <a:buNone/>
            </a:pPr>
            <a:endParaRPr lang="en-US" sz="36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0"/>
              </a:spcBef>
              <a:buFont typeface="Source Sans Pro"/>
              <a:buNone/>
            </a:pPr>
            <a:endParaRPr lang="en" sz="105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hape 87">
            <a:extLst>
              <a:ext uri="{FF2B5EF4-FFF2-40B4-BE49-F238E27FC236}">
                <a16:creationId xmlns:a16="http://schemas.microsoft.com/office/drawing/2014/main" id="{E5B74A89-7D02-7644-FF03-D6C3006ED4BD}"/>
              </a:ext>
            </a:extLst>
          </p:cNvPr>
          <p:cNvSpPr txBox="1">
            <a:spLocks/>
          </p:cNvSpPr>
          <p:nvPr/>
        </p:nvSpPr>
        <p:spPr>
          <a:xfrm>
            <a:off x="2345973" y="4653607"/>
            <a:ext cx="6798027" cy="1820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spcBef>
                <a:spcPts val="0"/>
              </a:spcBef>
              <a:buFont typeface="Source Sans Pro"/>
              <a:buNone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Senior Groundwater Modeler, Hydrogeologist</a:t>
            </a:r>
            <a:b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0"/>
              </a:spcBef>
              <a:buFont typeface="Source Sans Pro"/>
              <a:buNone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Lynker Corp. (Since June 2022)</a:t>
            </a:r>
          </a:p>
          <a:p>
            <a:pPr>
              <a:spcBef>
                <a:spcPts val="0"/>
              </a:spcBef>
              <a:buFont typeface="Source Sans Pro"/>
              <a:buNone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ADWR (2017-2022)</a:t>
            </a:r>
          </a:p>
          <a:p>
            <a:pPr>
              <a:spcBef>
                <a:spcPts val="0"/>
              </a:spcBef>
              <a:buFont typeface="Source Sans Pro"/>
              <a:buNone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Matrix New World / True Environmental (2013-2017)</a:t>
            </a:r>
          </a:p>
          <a:p>
            <a:pPr>
              <a:spcBef>
                <a:spcPts val="0"/>
              </a:spcBef>
              <a:buFont typeface="Source Sans Pro"/>
              <a:buNone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HydroGeoPhysics, Inc. (2013)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 descr="A person in a suit smiling&#10;&#10;AI-generated content may be incorrect.">
            <a:extLst>
              <a:ext uri="{FF2B5EF4-FFF2-40B4-BE49-F238E27FC236}">
                <a16:creationId xmlns:a16="http://schemas.microsoft.com/office/drawing/2014/main" id="{84BEEE69-7BE9-4553-267B-247533CA634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99934" y="1392443"/>
            <a:ext cx="1648709" cy="1915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4">
            <a:extLst>
              <a:ext uri="{FF2B5EF4-FFF2-40B4-BE49-F238E27FC236}">
                <a16:creationId xmlns:a16="http://schemas.microsoft.com/office/drawing/2014/main" id="{C75B8F99-B0A9-3B31-2161-6C94CA924421}"/>
              </a:ext>
            </a:extLst>
          </p:cNvPr>
          <p:cNvSpPr txBox="1">
            <a:spLocks/>
          </p:cNvSpPr>
          <p:nvPr/>
        </p:nvSpPr>
        <p:spPr>
          <a:xfrm>
            <a:off x="4316178" y="1566692"/>
            <a:ext cx="4348808" cy="476644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◎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○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◉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●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○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■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●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○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600"/>
              <a:buFont typeface="Source Sans Pro"/>
              <a:buChar char="■"/>
              <a:defRPr sz="26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Data Extraction</a:t>
            </a:r>
            <a:endParaRPr lang="en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Source Sans Pro"/>
              <a:buNone/>
            </a:pPr>
            <a:r>
              <a:rPr lang="e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 and Example</a:t>
            </a:r>
          </a:p>
          <a:p>
            <a:pPr>
              <a:buFont typeface="Source Sans Pro"/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-Data Visualization</a:t>
            </a:r>
          </a:p>
          <a:p>
            <a:pPr>
              <a:buFont typeface="Source Sans Pro"/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Advanced Topics</a:t>
            </a:r>
            <a:endParaRPr lang="en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Particles and Transport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-3D Techniques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-Integrated Modeling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-Model Calibration</a:t>
            </a:r>
          </a:p>
          <a:p>
            <a:pPr>
              <a:buFont typeface="Source Sans Pro"/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Calibration Example</a:t>
            </a:r>
            <a:endParaRPr lang="en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Test Model</a:t>
            </a:r>
          </a:p>
          <a:p>
            <a:pPr>
              <a:buFont typeface="Source Sans Pro"/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337529" y="1566692"/>
            <a:ext cx="4212724" cy="373808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 b="1" dirty="0"/>
              <a:t>Modeling Overview</a:t>
            </a:r>
            <a:endParaRPr lang="en" sz="2400" b="1" dirty="0"/>
          </a:p>
          <a:p>
            <a:pPr>
              <a:buNone/>
            </a:pPr>
            <a:r>
              <a:rPr lang="en" sz="2000" dirty="0"/>
              <a:t> -Modeling Terms</a:t>
            </a:r>
          </a:p>
          <a:p>
            <a:pPr>
              <a:buNone/>
            </a:pPr>
            <a:r>
              <a:rPr lang="en" sz="2000" dirty="0"/>
              <a:t> -</a:t>
            </a:r>
            <a:r>
              <a:rPr lang="en-US" sz="2000" dirty="0"/>
              <a:t>Model Types</a:t>
            </a:r>
          </a:p>
          <a:p>
            <a:pPr>
              <a:buNone/>
            </a:pPr>
            <a:r>
              <a:rPr lang="en-US" sz="2000" dirty="0"/>
              <a:t> -Groundwater Models</a:t>
            </a:r>
            <a:endParaRPr lang="en" sz="2000" dirty="0"/>
          </a:p>
          <a:p>
            <a:pPr>
              <a:buNone/>
            </a:pPr>
            <a:r>
              <a:rPr lang="en-US" sz="2000" dirty="0"/>
              <a:t> -Model Usage</a:t>
            </a:r>
          </a:p>
          <a:p>
            <a:pPr>
              <a:buNone/>
            </a:pPr>
            <a:r>
              <a:rPr lang="en-US" sz="2000" dirty="0"/>
              <a:t> -MODFLOW Versions</a:t>
            </a:r>
          </a:p>
          <a:p>
            <a:pPr lvl="0">
              <a:spcBef>
                <a:spcPts val="0"/>
              </a:spcBef>
              <a:buNone/>
            </a:pPr>
            <a:r>
              <a:rPr lang="en-US" sz="2000" dirty="0"/>
              <a:t> -MODFLOW Models in AZ</a:t>
            </a:r>
          </a:p>
          <a:p>
            <a:pPr lvl="0">
              <a:buNone/>
            </a:pPr>
            <a:r>
              <a:rPr lang="en-US" sz="2000" dirty="0"/>
              <a:t> -Guidance for MODFLOW</a:t>
            </a:r>
          </a:p>
        </p:txBody>
      </p:sp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786150" y="105452"/>
            <a:ext cx="7571700" cy="146124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 sz="3600" b="1" dirty="0">
                <a:solidFill>
                  <a:srgbClr val="3499CD"/>
                </a:solidFill>
              </a:rPr>
              <a:t>OVERVIEW</a:t>
            </a:r>
            <a:br>
              <a:rPr lang="en-US" sz="3200" b="1" dirty="0">
                <a:solidFill>
                  <a:srgbClr val="3499CD"/>
                </a:solidFill>
              </a:rPr>
            </a:br>
            <a:r>
              <a:rPr lang="en-US" sz="3600" b="1" dirty="0">
                <a:solidFill>
                  <a:srgbClr val="3499CD"/>
                </a:solidFill>
              </a:rPr>
              <a:t> </a:t>
            </a:r>
            <a:r>
              <a:rPr lang="en-US" sz="2800" b="1" dirty="0">
                <a:solidFill>
                  <a:srgbClr val="3499CD"/>
                </a:solidFill>
              </a:rPr>
              <a:t>Workshop Sections</a:t>
            </a:r>
            <a:endParaRPr lang="en" sz="2400" b="1" dirty="0">
              <a:solidFill>
                <a:srgbClr val="3499CD"/>
              </a:solidFill>
            </a:endParaRPr>
          </a:p>
        </p:txBody>
      </p:sp>
      <p:sp>
        <p:nvSpPr>
          <p:cNvPr id="134" name="Shape 134"/>
          <p:cNvSpPr txBox="1">
            <a:spLocks noGrp="1"/>
          </p:cNvSpPr>
          <p:nvPr>
            <p:ph type="body" idx="2"/>
          </p:nvPr>
        </p:nvSpPr>
        <p:spPr>
          <a:xfrm>
            <a:off x="337528" y="4350252"/>
            <a:ext cx="3708379" cy="95452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 b="1" dirty="0"/>
              <a:t>MODFLOW Examples</a:t>
            </a:r>
            <a:endParaRPr lang="en" sz="2400" dirty="0"/>
          </a:p>
          <a:p>
            <a:pPr lvl="0">
              <a:spcBef>
                <a:spcPts val="0"/>
              </a:spcBef>
              <a:buNone/>
            </a:pPr>
            <a:r>
              <a:rPr lang="en" sz="2000" dirty="0"/>
              <a:t> -5 Test Models</a:t>
            </a:r>
          </a:p>
        </p:txBody>
      </p:sp>
      <p:sp>
        <p:nvSpPr>
          <p:cNvPr id="135" name="Shape 135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7749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89495DB-404F-42AB-86AD-A8868158605E}"/>
              </a:ext>
            </a:extLst>
          </p:cNvPr>
          <p:cNvSpPr/>
          <p:nvPr/>
        </p:nvSpPr>
        <p:spPr>
          <a:xfrm>
            <a:off x="1173672" y="1605255"/>
            <a:ext cx="2145726" cy="320040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918DC5-17E0-4568-A2DE-8747C35403E0}"/>
              </a:ext>
            </a:extLst>
          </p:cNvPr>
          <p:cNvSpPr/>
          <p:nvPr/>
        </p:nvSpPr>
        <p:spPr>
          <a:xfrm>
            <a:off x="1173673" y="1922201"/>
            <a:ext cx="6579938" cy="1698613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1140493" y="1498330"/>
            <a:ext cx="6669485" cy="219080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</a:rPr>
              <a:t>  Training Goal</a:t>
            </a:r>
            <a:br>
              <a:rPr lang="en-US" b="1" dirty="0">
                <a:solidFill>
                  <a:schemeClr val="tx1"/>
                </a:solidFill>
              </a:rPr>
            </a:br>
            <a:endParaRPr lang="en" sz="600" b="1" dirty="0">
              <a:solidFill>
                <a:schemeClr val="tx1"/>
              </a:solidFill>
            </a:endParaRPr>
          </a:p>
          <a:p>
            <a:pPr lvl="0">
              <a:buNone/>
            </a:pPr>
            <a:r>
              <a:rPr lang="en-US" dirty="0">
                <a:solidFill>
                  <a:schemeClr val="tx1"/>
                </a:solidFill>
              </a:rPr>
              <a:t>Class participants will learn what a Numerical Groundwater Model is used for and how to generate one. Model application and calibration will be </a:t>
            </a:r>
            <a:r>
              <a:rPr lang="en-US" dirty="0" err="1">
                <a:solidFill>
                  <a:schemeClr val="tx1"/>
                </a:solidFill>
              </a:rPr>
              <a:t>tauight</a:t>
            </a:r>
            <a:r>
              <a:rPr lang="en-US" dirty="0">
                <a:solidFill>
                  <a:schemeClr val="tx1"/>
                </a:solidFill>
              </a:rPr>
              <a:t>. Participants will gain hands-on experience using MODFLOW to model groundwater on different scales.</a:t>
            </a:r>
          </a:p>
          <a:p>
            <a:pPr lvl="0">
              <a:spcBef>
                <a:spcPts val="0"/>
              </a:spcBef>
              <a:buNone/>
            </a:pPr>
            <a:endParaRPr lang="en" dirty="0">
              <a:solidFill>
                <a:schemeClr val="tx1"/>
              </a:solidFill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LEARNING OUTCOMES</a:t>
            </a:r>
          </a:p>
          <a:p>
            <a:pPr algn="ctr"/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5A053D-81D1-4399-BBF5-48D5D8B1E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231" y="3818966"/>
            <a:ext cx="5672917" cy="134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7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562401" y="1356955"/>
            <a:ext cx="3503331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Conceptual Models</a:t>
            </a:r>
            <a:endParaRPr lang="en" b="1" dirty="0"/>
          </a:p>
          <a:p>
            <a:pPr lvl="0">
              <a:buNone/>
            </a:pPr>
            <a:r>
              <a:rPr lang="en-US" dirty="0"/>
              <a:t>Description or pictorial representation of features, processes or events of water movement in the subsurface. 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Parameters for features and process can be assigned using conceptual understanding.</a:t>
            </a:r>
          </a:p>
        </p:txBody>
      </p:sp>
      <p:sp>
        <p:nvSpPr>
          <p:cNvPr id="143" name="Shape 143"/>
          <p:cNvSpPr txBox="1">
            <a:spLocks noGrp="1"/>
          </p:cNvSpPr>
          <p:nvPr>
            <p:ph type="body" idx="3"/>
          </p:nvPr>
        </p:nvSpPr>
        <p:spPr>
          <a:xfrm>
            <a:off x="4247882" y="1356955"/>
            <a:ext cx="4131188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Numerical Models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Equations used to define the movement of water through the hydrologic cycle. </a:t>
            </a:r>
          </a:p>
          <a:p>
            <a:pPr lvl="0" rtl="0">
              <a:spcBef>
                <a:spcPts val="0"/>
              </a:spcBef>
              <a:buNone/>
            </a:pPr>
            <a:endParaRPr lang="en-US" dirty="0"/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This class focuses on those that are used to estimate the hydrologic process in the groundwater system, the flow of groundwater.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5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TYPES</a:t>
            </a:r>
          </a:p>
          <a:p>
            <a:pPr algn="ctr"/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7959" y="84017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Usage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0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B26538C5-8604-EC13-3DE4-CBF9E652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E6CCBFBE-B196-C9DA-7600-D3FB0D3F1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2401" y="1325640"/>
            <a:ext cx="3705218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Process-based</a:t>
            </a:r>
            <a:endParaRPr lang="en" b="1" dirty="0"/>
          </a:p>
          <a:p>
            <a:pPr lvl="0">
              <a:buNone/>
            </a:pPr>
            <a:r>
              <a:rPr lang="en-US" dirty="0"/>
              <a:t>Physical processes and principles approximated</a:t>
            </a:r>
            <a:br>
              <a:rPr lang="en-US" dirty="0"/>
            </a:br>
            <a:r>
              <a:rPr lang="en-US" dirty="0"/>
              <a:t>to evaluate the modeled system.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MODFLOW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FEFLOW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SWAT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HEC-HMS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Most Environmental Models</a:t>
            </a:r>
            <a:endParaRPr lang="en" dirty="0"/>
          </a:p>
        </p:txBody>
      </p:sp>
      <p:sp>
        <p:nvSpPr>
          <p:cNvPr id="143" name="Shape 143">
            <a:extLst>
              <a:ext uri="{FF2B5EF4-FFF2-40B4-BE49-F238E27FC236}">
                <a16:creationId xmlns:a16="http://schemas.microsoft.com/office/drawing/2014/main" id="{D8428797-6B15-CC73-C87A-E5D78323D52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103833" y="1325640"/>
            <a:ext cx="4131188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Data-driven or Empirical</a:t>
            </a:r>
            <a:endParaRPr lang="en" b="1" dirty="0"/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Empirical or statistical equations derived from available data are used to calculate an unknown variable.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Brooks-Corey (1966)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 Grenn and </a:t>
            </a:r>
            <a:r>
              <a:rPr lang="en-US" dirty="0" err="1">
                <a:sym typeface="Wingdings 2" panose="05020102010507070707" pitchFamily="18" charset="2"/>
              </a:rPr>
              <a:t>Ampt</a:t>
            </a:r>
            <a:r>
              <a:rPr lang="en-US" dirty="0">
                <a:sym typeface="Wingdings 2" panose="05020102010507070707" pitchFamily="18" charset="2"/>
              </a:rPr>
              <a:t> (1911)</a:t>
            </a:r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Clapp and Hornberger (1978)</a:t>
            </a:r>
          </a:p>
          <a:p>
            <a:pPr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3A57945E-9A43-22DA-F0E8-ED218ED7EA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6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C42B76C-024F-8EE4-0084-52A18AB20400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 </a:t>
            </a:r>
          </a:p>
          <a:p>
            <a:pPr algn="ctr"/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F5E67044-573D-E4D5-CCB7-462F092952C1}"/>
              </a:ext>
            </a:extLst>
          </p:cNvPr>
          <p:cNvSpPr txBox="1">
            <a:spLocks/>
          </p:cNvSpPr>
          <p:nvPr/>
        </p:nvSpPr>
        <p:spPr>
          <a:xfrm>
            <a:off x="941696" y="808855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Primary Types of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F47C5-AD67-21D3-6147-072C97125B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29803" y="3948838"/>
            <a:ext cx="3705218" cy="2711194"/>
          </a:xfrm>
          <a:prstGeom prst="rect">
            <a:avLst/>
          </a:prstGeom>
        </p:spPr>
      </p:pic>
      <p:sp>
        <p:nvSpPr>
          <p:cNvPr id="12" name="Shape 143">
            <a:extLst>
              <a:ext uri="{FF2B5EF4-FFF2-40B4-BE49-F238E27FC236}">
                <a16:creationId xmlns:a16="http://schemas.microsoft.com/office/drawing/2014/main" id="{15E133B9-2382-1E63-28C5-F2849131988E}"/>
              </a:ext>
            </a:extLst>
          </p:cNvPr>
          <p:cNvSpPr txBox="1">
            <a:spLocks/>
          </p:cNvSpPr>
          <p:nvPr/>
        </p:nvSpPr>
        <p:spPr>
          <a:xfrm>
            <a:off x="2538327" y="5720556"/>
            <a:ext cx="2108776" cy="89631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Haverkamp </a:t>
            </a:r>
            <a:b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Parlange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1986</a:t>
            </a:r>
          </a:p>
        </p:txBody>
      </p:sp>
    </p:spTree>
    <p:extLst>
      <p:ext uri="{BB962C8B-B14F-4D97-AF65-F5344CB8AC3E}">
        <p14:creationId xmlns:p14="http://schemas.microsoft.com/office/powerpoint/2010/main" val="399995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FDA3FF3-660E-C541-8376-8CF1BA81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5CD298-BD5A-355B-E518-E4ABC569E147}"/>
              </a:ext>
            </a:extLst>
          </p:cNvPr>
          <p:cNvSpPr/>
          <p:nvPr/>
        </p:nvSpPr>
        <p:spPr>
          <a:xfrm>
            <a:off x="5022241" y="2158282"/>
            <a:ext cx="3170518" cy="37477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Shape 143">
            <a:extLst>
              <a:ext uri="{FF2B5EF4-FFF2-40B4-BE49-F238E27FC236}">
                <a16:creationId xmlns:a16="http://schemas.microsoft.com/office/drawing/2014/main" id="{77BEC9B6-31E8-8C94-DA13-CC255C7FAFC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11890" y="1548929"/>
            <a:ext cx="4131188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dirty="0"/>
              <a:t>Empirical or statistical equations derived from available data are used to calculate an unknown variable.</a:t>
            </a:r>
          </a:p>
          <a:p>
            <a:pPr lvl="0" rtl="0">
              <a:spcBef>
                <a:spcPts val="0"/>
              </a:spcBef>
              <a:buNone/>
            </a:pPr>
            <a:endParaRPr lang="en-US" dirty="0"/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Vadose zone processes are still commonly studied using empirical models. Example to right shows a modified Green-</a:t>
            </a:r>
            <a:r>
              <a:rPr lang="en-US" dirty="0" err="1"/>
              <a:t>Ampt</a:t>
            </a:r>
            <a:r>
              <a:rPr lang="en-US" dirty="0"/>
              <a:t> model being used to model subsurface soil moisture.</a:t>
            </a:r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BA2EE6A0-5756-2E92-3DC4-1EC41F607A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7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B9BFD54-FE08-1E19-06AD-10EC115A8BD5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 </a:t>
            </a:r>
          </a:p>
          <a:p>
            <a:pPr algn="ctr"/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7B169C09-F4F7-7F4D-164F-4B0BF58C952B}"/>
              </a:ext>
            </a:extLst>
          </p:cNvPr>
          <p:cNvSpPr txBox="1">
            <a:spLocks/>
          </p:cNvSpPr>
          <p:nvPr/>
        </p:nvSpPr>
        <p:spPr>
          <a:xfrm>
            <a:off x="941696" y="84017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Data-driven or Empirical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43">
            <a:extLst>
              <a:ext uri="{FF2B5EF4-FFF2-40B4-BE49-F238E27FC236}">
                <a16:creationId xmlns:a16="http://schemas.microsoft.com/office/drawing/2014/main" id="{A5567EF3-5AFF-6011-B070-F22E5E0D3F9C}"/>
              </a:ext>
            </a:extLst>
          </p:cNvPr>
          <p:cNvSpPr txBox="1">
            <a:spLocks/>
          </p:cNvSpPr>
          <p:nvPr/>
        </p:nvSpPr>
        <p:spPr>
          <a:xfrm>
            <a:off x="4900924" y="1487436"/>
            <a:ext cx="3291835" cy="7655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Follette, P., Ogden, </a:t>
            </a:r>
            <a:b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F. L., &amp; Jan, A. (2023)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19CCBA-F931-79AC-EE89-79F131037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551" y="2183334"/>
            <a:ext cx="2895898" cy="36976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75C84D-44FD-E651-95A5-ECFB59759692}"/>
              </a:ext>
            </a:extLst>
          </p:cNvPr>
          <p:cNvSpPr/>
          <p:nvPr/>
        </p:nvSpPr>
        <p:spPr>
          <a:xfrm>
            <a:off x="5022241" y="5906022"/>
            <a:ext cx="3170518" cy="7452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820D493-8327-C021-C916-4CBA36BDF7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40005" y="6092381"/>
            <a:ext cx="182880" cy="137160"/>
          </a:xfrm>
          <a:prstGeom prst="bentConnector3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5128351-2C23-3B37-5E31-6B4EE246075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51423" y="6320307"/>
            <a:ext cx="182880" cy="146304"/>
          </a:xfrm>
          <a:prstGeom prst="bentConnector3">
            <a:avLst/>
          </a:prstGeom>
          <a:ln>
            <a:solidFill>
              <a:srgbClr val="FF02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C6AA1B9-41A0-D5B4-5F56-447D79767E15}"/>
              </a:ext>
            </a:extLst>
          </p:cNvPr>
          <p:cNvSpPr/>
          <p:nvPr/>
        </p:nvSpPr>
        <p:spPr>
          <a:xfrm>
            <a:off x="6544490" y="6195633"/>
            <a:ext cx="164592" cy="164592"/>
          </a:xfrm>
          <a:prstGeom prst="rect">
            <a:avLst/>
          </a:prstGeom>
          <a:solidFill>
            <a:srgbClr val="DED6E9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1AD93-7E46-2D77-CCCE-26798DD1C0A1}"/>
              </a:ext>
            </a:extLst>
          </p:cNvPr>
          <p:cNvSpPr/>
          <p:nvPr/>
        </p:nvSpPr>
        <p:spPr>
          <a:xfrm>
            <a:off x="6539382" y="5953300"/>
            <a:ext cx="164592" cy="164592"/>
          </a:xfrm>
          <a:prstGeom prst="rect">
            <a:avLst/>
          </a:prstGeom>
          <a:solidFill>
            <a:srgbClr val="BFE4B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A6E1A-5490-C917-EB03-CEE41C4AC191}"/>
              </a:ext>
            </a:extLst>
          </p:cNvPr>
          <p:cNvSpPr/>
          <p:nvPr/>
        </p:nvSpPr>
        <p:spPr>
          <a:xfrm>
            <a:off x="6547002" y="6437967"/>
            <a:ext cx="164592" cy="164592"/>
          </a:xfrm>
          <a:prstGeom prst="rect">
            <a:avLst/>
          </a:prstGeom>
          <a:solidFill>
            <a:srgbClr val="FEDFC2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bg1">
                    <a:lumMod val="75000"/>
                  </a:schemeClr>
                </a:solidFill>
              </a:ln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775580-40E0-1B75-A37B-0E2B1F39EDE8}"/>
              </a:ext>
            </a:extLst>
          </p:cNvPr>
          <p:cNvSpPr txBox="1"/>
          <p:nvPr/>
        </p:nvSpPr>
        <p:spPr>
          <a:xfrm>
            <a:off x="5284785" y="6016313"/>
            <a:ext cx="1188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Water Content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2BC957-9315-3774-59BB-7F02E0DC46AD}"/>
              </a:ext>
            </a:extLst>
          </p:cNvPr>
          <p:cNvSpPr txBox="1"/>
          <p:nvPr/>
        </p:nvSpPr>
        <p:spPr>
          <a:xfrm>
            <a:off x="5284784" y="6258677"/>
            <a:ext cx="111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Saturated WC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F9CE5F-CC05-6D93-624C-98017E387102}"/>
              </a:ext>
            </a:extLst>
          </p:cNvPr>
          <p:cNvSpPr txBox="1"/>
          <p:nvPr/>
        </p:nvSpPr>
        <p:spPr>
          <a:xfrm>
            <a:off x="6681622" y="5894995"/>
            <a:ext cx="1531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Initial Soil Moisture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F3C2A6-AC59-8B61-3EB5-E93BD19B1838}"/>
              </a:ext>
            </a:extLst>
          </p:cNvPr>
          <p:cNvSpPr txBox="1"/>
          <p:nvPr/>
        </p:nvSpPr>
        <p:spPr>
          <a:xfrm>
            <a:off x="6694324" y="6136913"/>
            <a:ext cx="1564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One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Precip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 Pulse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9D1B7-E82C-EA37-7B78-B71BC49F40D7}"/>
              </a:ext>
            </a:extLst>
          </p:cNvPr>
          <p:cNvSpPr txBox="1"/>
          <p:nvPr/>
        </p:nvSpPr>
        <p:spPr>
          <a:xfrm>
            <a:off x="6701918" y="6382006"/>
            <a:ext cx="149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Two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Precip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 Pulses</a:t>
            </a:r>
          </a:p>
        </p:txBody>
      </p:sp>
    </p:spTree>
    <p:extLst>
      <p:ext uri="{BB962C8B-B14F-4D97-AF65-F5344CB8AC3E}">
        <p14:creationId xmlns:p14="http://schemas.microsoft.com/office/powerpoint/2010/main" val="1671826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5695AE-EE6D-484C-AF77-BF045D53A415}"/>
              </a:ext>
            </a:extLst>
          </p:cNvPr>
          <p:cNvSpPr/>
          <p:nvPr/>
        </p:nvSpPr>
        <p:spPr>
          <a:xfrm>
            <a:off x="5058697" y="0"/>
            <a:ext cx="4100238" cy="3023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1" name="Shape 141">
            <a:extLst>
              <a:ext uri="{FF2B5EF4-FFF2-40B4-BE49-F238E27FC236}">
                <a16:creationId xmlns:a16="http://schemas.microsoft.com/office/drawing/2014/main" id="{2256351F-884B-4836-B818-3DFD77A9AFFF}"/>
              </a:ext>
            </a:extLst>
          </p:cNvPr>
          <p:cNvSpPr txBox="1">
            <a:spLocks/>
          </p:cNvSpPr>
          <p:nvPr/>
        </p:nvSpPr>
        <p:spPr>
          <a:xfrm>
            <a:off x="4433214" y="5599460"/>
            <a:ext cx="4043082" cy="49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 of a constant-rate pumping (Tartakovsky and Neuman 2007). From AQTESOLV.com (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HydroSOLVE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Inc).</a:t>
            </a: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463475"/>
            <a:ext cx="3651706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Analytical Model</a:t>
            </a:r>
            <a:endParaRPr lang="en" b="1" dirty="0"/>
          </a:p>
          <a:p>
            <a:pPr lvl="0">
              <a:buNone/>
            </a:pPr>
            <a:r>
              <a:rPr lang="en-US" dirty="0"/>
              <a:t>A math-formula based solution of groundwater flow through governing equation(s) and solution algorithm(s).</a:t>
            </a:r>
          </a:p>
          <a:p>
            <a:pPr lvl="0">
              <a:buNone/>
            </a:pPr>
            <a:r>
              <a:rPr lang="en-US" dirty="0"/>
              <a:t> 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AQTESOLV</a:t>
            </a:r>
          </a:p>
          <a:p>
            <a:pPr lvl="0">
              <a:buNone/>
            </a:pPr>
            <a:r>
              <a:rPr lang="en-US" dirty="0">
                <a:sym typeface="Wingdings 2" panose="05020102010507070707" pitchFamily="18" charset="2"/>
              </a:rPr>
              <a:t>  </a:t>
            </a:r>
            <a:r>
              <a:rPr lang="en-US" dirty="0"/>
              <a:t> </a:t>
            </a:r>
            <a:r>
              <a:rPr lang="en" dirty="0"/>
              <a:t>AquiferW</a:t>
            </a:r>
            <a:r>
              <a:rPr lang="en-US" dirty="0"/>
              <a:t>in</a:t>
            </a:r>
            <a:r>
              <a:rPr lang="en" dirty="0"/>
              <a:t>32</a:t>
            </a:r>
          </a:p>
          <a:p>
            <a:pPr lvl="0">
              <a:buNone/>
            </a:pPr>
            <a:r>
              <a:rPr lang="en-US" dirty="0"/>
              <a:t> 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MLAEM</a:t>
            </a:r>
          </a:p>
          <a:p>
            <a:pPr lvl="0">
              <a:buNone/>
            </a:pPr>
            <a:r>
              <a:rPr lang="en-US" dirty="0"/>
              <a:t> 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/>
              <a:t>TH_Wells</a:t>
            </a: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Most analytical solutions assume homogeneous porous media, simple geometry and ideal boundary conditions.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8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</a:p>
          <a:p>
            <a:pPr algn="ctr"/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81969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Process-Based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Analysis of a pumping test in an unconfined aquifer with noninstantaneous drainage">
            <a:extLst>
              <a:ext uri="{FF2B5EF4-FFF2-40B4-BE49-F238E27FC236}">
                <a16:creationId xmlns:a16="http://schemas.microsoft.com/office/drawing/2014/main" id="{D6D2937B-D55D-4473-BA50-8D1EE4CF0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4378"/>
          <a:stretch/>
        </p:blipFill>
        <p:spPr bwMode="auto">
          <a:xfrm>
            <a:off x="4302534" y="1567664"/>
            <a:ext cx="4354769" cy="406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46CC85B-929A-455C-897F-DAC6C18AADA2}"/>
              </a:ext>
            </a:extLst>
          </p:cNvPr>
          <p:cNvSpPr/>
          <p:nvPr/>
        </p:nvSpPr>
        <p:spPr>
          <a:xfrm>
            <a:off x="0" y="5443870"/>
            <a:ext cx="3435101" cy="14141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791573" y="1381160"/>
            <a:ext cx="5910655" cy="1406285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Deterministic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A model that makes a singular prediction or has a single outcome based on single set of inputs.</a:t>
            </a:r>
          </a:p>
          <a:p>
            <a:pPr lvl="0">
              <a:buNone/>
            </a:pPr>
            <a:r>
              <a:rPr lang="en-US" dirty="0">
                <a:sym typeface="Wingdings 2" panose="05020102010507070707" pitchFamily="18" charset="2"/>
              </a:rPr>
              <a:t> </a:t>
            </a:r>
            <a:r>
              <a:rPr lang="en-US" dirty="0"/>
              <a:t> Most Predictive Groundwater Models</a:t>
            </a:r>
          </a:p>
          <a:p>
            <a:pPr lvl="0">
              <a:buNone/>
            </a:pPr>
            <a:endParaRPr lang="en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9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81969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BF8B5EF-A1E3-4575-9625-9D3402111E7C}"/>
              </a:ext>
            </a:extLst>
          </p:cNvPr>
          <p:cNvGrpSpPr/>
          <p:nvPr/>
        </p:nvGrpSpPr>
        <p:grpSpPr>
          <a:xfrm>
            <a:off x="484568" y="2831544"/>
            <a:ext cx="6711836" cy="3802863"/>
            <a:chOff x="877979" y="2746480"/>
            <a:chExt cx="6711836" cy="380286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08B1347-E9FE-4390-AFDE-347D13800B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77979" y="2746480"/>
              <a:ext cx="6711836" cy="380286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FA52534-7A11-4CE4-A51E-013077B025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4596" y="2879146"/>
              <a:ext cx="3255927" cy="347386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0C9FB7F-69B1-4BA3-ADF5-5DC22BDC4F00}"/>
              </a:ext>
            </a:extLst>
          </p:cNvPr>
          <p:cNvSpPr txBox="1"/>
          <p:nvPr/>
        </p:nvSpPr>
        <p:spPr>
          <a:xfrm>
            <a:off x="3989989" y="3639069"/>
            <a:ext cx="2581140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FAFD7"/>
            </a:solidFill>
          </a:ln>
        </p:spPr>
        <p:txBody>
          <a:bodyPr wrap="square" lIns="27432" rIns="27432" rtlCol="0">
            <a:spAutoFit/>
          </a:bodyPr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Results from the Tucson AMA 2010 Model for a single well with a long water level history.</a:t>
            </a:r>
          </a:p>
        </p:txBody>
      </p:sp>
      <p:sp>
        <p:nvSpPr>
          <p:cNvPr id="15" name="Shape 141">
            <a:extLst>
              <a:ext uri="{FF2B5EF4-FFF2-40B4-BE49-F238E27FC236}">
                <a16:creationId xmlns:a16="http://schemas.microsoft.com/office/drawing/2014/main" id="{BCC06B97-0ED5-445A-9CDC-A803384570F6}"/>
              </a:ext>
            </a:extLst>
          </p:cNvPr>
          <p:cNvSpPr txBox="1">
            <a:spLocks/>
          </p:cNvSpPr>
          <p:nvPr/>
        </p:nvSpPr>
        <p:spPr>
          <a:xfrm>
            <a:off x="5975558" y="4275930"/>
            <a:ext cx="4043082" cy="247027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ADWR </a:t>
            </a:r>
          </a:p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2013</a:t>
            </a:r>
          </a:p>
          <a:p>
            <a:pPr algn="ctr">
              <a:buNone/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4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7F06605-0EA0-4405-E6F7-CCAF39EE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D1A32502-A548-FCEB-0750-1307612F0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1573" y="1381160"/>
            <a:ext cx="5910655" cy="1406285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Deterministic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Can be problematic if uncertainty or model changes are a concern.</a:t>
            </a:r>
            <a:endParaRPr lang="en" dirty="0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DAF3382E-A52F-27EC-A371-7129658C78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10</a:t>
            </a:fld>
            <a:endParaRPr lang="e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8C3B530-B7EF-6B56-016E-9BF61F469382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61A82518-091A-2109-9398-7546CD494027}"/>
              </a:ext>
            </a:extLst>
          </p:cNvPr>
          <p:cNvSpPr txBox="1">
            <a:spLocks/>
          </p:cNvSpPr>
          <p:nvPr/>
        </p:nvSpPr>
        <p:spPr>
          <a:xfrm>
            <a:off x="941696" y="81969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7A3628-83D7-5F55-0699-F8FC7A98D4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sp>
        <p:nvSpPr>
          <p:cNvPr id="15" name="Shape 141">
            <a:extLst>
              <a:ext uri="{FF2B5EF4-FFF2-40B4-BE49-F238E27FC236}">
                <a16:creationId xmlns:a16="http://schemas.microsoft.com/office/drawing/2014/main" id="{3BA43104-8ED9-E290-2D9D-300600F73FF1}"/>
              </a:ext>
            </a:extLst>
          </p:cNvPr>
          <p:cNvSpPr txBox="1">
            <a:spLocks/>
          </p:cNvSpPr>
          <p:nvPr/>
        </p:nvSpPr>
        <p:spPr>
          <a:xfrm>
            <a:off x="136478" y="551106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ADWR , 2023</a:t>
            </a:r>
          </a:p>
          <a:p>
            <a:pPr algn="ctr">
              <a:buNone/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141">
            <a:extLst>
              <a:ext uri="{FF2B5EF4-FFF2-40B4-BE49-F238E27FC236}">
                <a16:creationId xmlns:a16="http://schemas.microsoft.com/office/drawing/2014/main" id="{C947B53E-F6A1-88B1-C17F-23291581FFFA}"/>
              </a:ext>
            </a:extLst>
          </p:cNvPr>
          <p:cNvSpPr txBox="1">
            <a:spLocks/>
          </p:cNvSpPr>
          <p:nvPr/>
        </p:nvSpPr>
        <p:spPr>
          <a:xfrm>
            <a:off x="4213968" y="551106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ADWR , 2024</a:t>
            </a:r>
          </a:p>
        </p:txBody>
      </p:sp>
    </p:spTree>
    <p:extLst>
      <p:ext uri="{BB962C8B-B14F-4D97-AF65-F5344CB8AC3E}">
        <p14:creationId xmlns:p14="http://schemas.microsoft.com/office/powerpoint/2010/main" val="2343227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AA4D52A-E6B8-FDBE-82B5-32EBFE8981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26226" y="2762134"/>
            <a:ext cx="6340800" cy="392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156574" y="1224252"/>
            <a:ext cx="6879226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Probabilistic</a:t>
            </a:r>
          </a:p>
          <a:p>
            <a:pPr lvl="0">
              <a:buNone/>
            </a:pPr>
            <a:r>
              <a:rPr lang="en-US" dirty="0"/>
              <a:t>A model that uses many parameter combinations based</a:t>
            </a:r>
            <a:br>
              <a:rPr lang="en-US" dirty="0"/>
            </a:br>
            <a:r>
              <a:rPr lang="en-US" dirty="0"/>
              <a:t>on statistical  distributions and literature values.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 Most </a:t>
            </a:r>
            <a:r>
              <a:rPr lang="en-US" dirty="0"/>
              <a:t>Climate Models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CRSS: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724234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141">
            <a:extLst>
              <a:ext uri="{FF2B5EF4-FFF2-40B4-BE49-F238E27FC236}">
                <a16:creationId xmlns:a16="http://schemas.microsoft.com/office/drawing/2014/main" id="{932DD58A-9BC5-486E-83B2-5560871C86F3}"/>
              </a:ext>
            </a:extLst>
          </p:cNvPr>
          <p:cNvSpPr txBox="1">
            <a:spLocks/>
          </p:cNvSpPr>
          <p:nvPr/>
        </p:nvSpPr>
        <p:spPr>
          <a:xfrm>
            <a:off x="5589893" y="2506708"/>
            <a:ext cx="4710786" cy="99880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USBR 2025</a:t>
            </a:r>
          </a:p>
        </p:txBody>
      </p:sp>
      <p:sp>
        <p:nvSpPr>
          <p:cNvPr id="11" name="Shape 141">
            <a:extLst>
              <a:ext uri="{FF2B5EF4-FFF2-40B4-BE49-F238E27FC236}">
                <a16:creationId xmlns:a16="http://schemas.microsoft.com/office/drawing/2014/main" id="{D431E06B-2C12-4C9C-866E-39394AAB45B4}"/>
              </a:ext>
            </a:extLst>
          </p:cNvPr>
          <p:cNvSpPr txBox="1">
            <a:spLocks/>
          </p:cNvSpPr>
          <p:nvPr/>
        </p:nvSpPr>
        <p:spPr>
          <a:xfrm>
            <a:off x="31064" y="3649968"/>
            <a:ext cx="1448022" cy="176066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Colorado</a:t>
            </a:r>
          </a:p>
          <a:p>
            <a:pPr algn="ctr">
              <a:buFont typeface="Source Sans Pro"/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River</a:t>
            </a:r>
          </a:p>
          <a:p>
            <a:pPr algn="ctr">
              <a:buFont typeface="Source Sans Pro"/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Simulation</a:t>
            </a:r>
          </a:p>
          <a:p>
            <a:pPr algn="ctr">
              <a:buFont typeface="Source Sans Pro"/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75790503-5D7A-4219-B890-A1C372FBB1EC}"/>
              </a:ext>
            </a:extLst>
          </p:cNvPr>
          <p:cNvSpPr/>
          <p:nvPr/>
        </p:nvSpPr>
        <p:spPr>
          <a:xfrm>
            <a:off x="267293" y="4967700"/>
            <a:ext cx="1320939" cy="236204"/>
          </a:xfrm>
          <a:prstGeom prst="rightArrow">
            <a:avLst/>
          </a:prstGeom>
          <a:solidFill>
            <a:srgbClr val="5FAF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3" name="Shape 144">
            <a:extLst>
              <a:ext uri="{FF2B5EF4-FFF2-40B4-BE49-F238E27FC236}">
                <a16:creationId xmlns:a16="http://schemas.microsoft.com/office/drawing/2014/main" id="{3A4A1B05-2CB3-5720-1715-DAA4F90017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11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6038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735AB7A-BEF4-034B-46C7-696A5B59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A51230BC-0F96-6D57-0C5D-40C72EE5E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6574" y="1224252"/>
            <a:ext cx="6599826" cy="3327893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Probabilistic &amp; Deterministic</a:t>
            </a:r>
          </a:p>
          <a:p>
            <a:pPr lvl="0">
              <a:buNone/>
            </a:pPr>
            <a:r>
              <a:rPr lang="en-US" dirty="0"/>
              <a:t>Many use of both, for different purposes: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	</a:t>
            </a:r>
            <a:r>
              <a:rPr lang="en-US" b="1" dirty="0"/>
              <a:t>Deterministic</a:t>
            </a:r>
          </a:p>
          <a:p>
            <a:pPr lvl="0">
              <a:buNone/>
            </a:pPr>
            <a:r>
              <a:rPr lang="en-US" dirty="0">
                <a:sym typeface="Wingdings 2" panose="05020102010507070707" pitchFamily="18" charset="2"/>
              </a:rPr>
              <a:t> Management, Planning and Regulatory Decisions</a:t>
            </a: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	</a:t>
            </a:r>
            <a:r>
              <a:rPr lang="en-US" b="1" dirty="0"/>
              <a:t>Probabilistic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Risk Management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Uncertainty Analysis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44CFCF3-8653-978F-C70E-F95B4AF6EBEA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8BC64156-6295-D9EF-0AD5-7C75A238AFE1}"/>
              </a:ext>
            </a:extLst>
          </p:cNvPr>
          <p:cNvSpPr txBox="1">
            <a:spLocks/>
          </p:cNvSpPr>
          <p:nvPr/>
        </p:nvSpPr>
        <p:spPr>
          <a:xfrm>
            <a:off x="941696" y="724234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group of pixelated objects&#10;&#10;AI-generated content may be incorrect.">
            <a:extLst>
              <a:ext uri="{FF2B5EF4-FFF2-40B4-BE49-F238E27FC236}">
                <a16:creationId xmlns:a16="http://schemas.microsoft.com/office/drawing/2014/main" id="{D24B6F8E-2FCD-884F-4738-4956D521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352" y="3275555"/>
            <a:ext cx="5877580" cy="3397198"/>
          </a:xfrm>
          <a:prstGeom prst="rect">
            <a:avLst/>
          </a:prstGeom>
        </p:spPr>
      </p:pic>
      <p:sp>
        <p:nvSpPr>
          <p:cNvPr id="4" name="Shape 141">
            <a:extLst>
              <a:ext uri="{FF2B5EF4-FFF2-40B4-BE49-F238E27FC236}">
                <a16:creationId xmlns:a16="http://schemas.microsoft.com/office/drawing/2014/main" id="{FC700502-4923-A44F-8E47-2F02849588A6}"/>
              </a:ext>
            </a:extLst>
          </p:cNvPr>
          <p:cNvSpPr txBox="1">
            <a:spLocks/>
          </p:cNvSpPr>
          <p:nvPr/>
        </p:nvSpPr>
        <p:spPr>
          <a:xfrm>
            <a:off x="-514069" y="5385126"/>
            <a:ext cx="3601736" cy="11614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Monte Carlo</a:t>
            </a:r>
            <a:b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Setup Example</a:t>
            </a:r>
          </a:p>
        </p:txBody>
      </p:sp>
      <p:sp>
        <p:nvSpPr>
          <p:cNvPr id="11" name="Shape 141">
            <a:extLst>
              <a:ext uri="{FF2B5EF4-FFF2-40B4-BE49-F238E27FC236}">
                <a16:creationId xmlns:a16="http://schemas.microsoft.com/office/drawing/2014/main" id="{60464C6D-1671-72E8-4E44-E7C33271D65E}"/>
              </a:ext>
            </a:extLst>
          </p:cNvPr>
          <p:cNvSpPr txBox="1">
            <a:spLocks/>
          </p:cNvSpPr>
          <p:nvPr/>
        </p:nvSpPr>
        <p:spPr>
          <a:xfrm>
            <a:off x="6756400" y="2827348"/>
            <a:ext cx="1893518" cy="39639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GMDSI, 2023</a:t>
            </a:r>
          </a:p>
        </p:txBody>
      </p:sp>
    </p:spTree>
    <p:extLst>
      <p:ext uri="{BB962C8B-B14F-4D97-AF65-F5344CB8AC3E}">
        <p14:creationId xmlns:p14="http://schemas.microsoft.com/office/powerpoint/2010/main" val="3915122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2FD945-1638-40C9-AF19-E89025E90F06}"/>
              </a:ext>
            </a:extLst>
          </p:cNvPr>
          <p:cNvSpPr/>
          <p:nvPr/>
        </p:nvSpPr>
        <p:spPr>
          <a:xfrm>
            <a:off x="0" y="4210443"/>
            <a:ext cx="4025153" cy="2647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8" name="Shape 143">
            <a:extLst>
              <a:ext uri="{FF2B5EF4-FFF2-40B4-BE49-F238E27FC236}">
                <a16:creationId xmlns:a16="http://schemas.microsoft.com/office/drawing/2014/main" id="{AA383A22-3B54-477A-9296-9C6C2320A6DF}"/>
              </a:ext>
            </a:extLst>
          </p:cNvPr>
          <p:cNvSpPr txBox="1">
            <a:spLocks/>
          </p:cNvSpPr>
          <p:nvPr/>
        </p:nvSpPr>
        <p:spPr>
          <a:xfrm>
            <a:off x="616210" y="2443892"/>
            <a:ext cx="4281316" cy="314965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 2" panose="05020102010507070707" pitchFamily="18" charset="2"/>
              </a:rPr>
              <a:t> 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Most MODFLOW Releases</a:t>
            </a:r>
          </a:p>
          <a:p>
            <a:pPr>
              <a:buFont typeface="Source Sans Pro"/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60051" y="1204461"/>
            <a:ext cx="2590584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Finite Difference</a:t>
            </a:r>
            <a:endParaRPr lang="en" b="1" dirty="0"/>
          </a:p>
          <a:p>
            <a:pPr lvl="0">
              <a:buNone/>
            </a:pPr>
            <a:r>
              <a:rPr lang="en-US" dirty="0"/>
              <a:t>Nodes in rectangular grid using layer, row, column index (</a:t>
            </a:r>
            <a:r>
              <a:rPr lang="en-US" dirty="0" err="1"/>
              <a:t>i,j,k</a:t>
            </a:r>
            <a:r>
              <a:rPr lang="en-US" dirty="0"/>
              <a:t>).</a:t>
            </a:r>
          </a:p>
        </p:txBody>
      </p:sp>
      <p:sp>
        <p:nvSpPr>
          <p:cNvPr id="143" name="Shape 143"/>
          <p:cNvSpPr txBox="1">
            <a:spLocks noGrp="1"/>
          </p:cNvSpPr>
          <p:nvPr>
            <p:ph type="body" idx="3"/>
          </p:nvPr>
        </p:nvSpPr>
        <p:spPr>
          <a:xfrm>
            <a:off x="4266854" y="1213036"/>
            <a:ext cx="3442177" cy="2405233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Finite Element</a:t>
            </a:r>
            <a:endParaRPr lang="en" b="1" dirty="0"/>
          </a:p>
          <a:p>
            <a:pPr lvl="0">
              <a:buNone/>
            </a:pPr>
            <a:r>
              <a:rPr lang="en-US" dirty="0"/>
              <a:t>Nodes in mesh with defined connections and spatial coordinates (</a:t>
            </a:r>
            <a:r>
              <a:rPr lang="en-US" dirty="0" err="1"/>
              <a:t>x,y,z</a:t>
            </a:r>
            <a:r>
              <a:rPr lang="en-US" dirty="0"/>
              <a:t>).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FEFLOW</a:t>
            </a:r>
          </a:p>
          <a:p>
            <a:pPr lvl="0">
              <a:buNone/>
            </a:pPr>
            <a:r>
              <a:rPr lang="en-US" dirty="0"/>
              <a:t> </a:t>
            </a:r>
            <a:r>
              <a:rPr lang="en-US" dirty="0">
                <a:sym typeface="Wingdings 2" panose="05020102010507070707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/>
              <a:t>HydroGeoSphere</a:t>
            </a:r>
            <a:endParaRPr lang="en-US" dirty="0"/>
          </a:p>
          <a:p>
            <a:pPr lvl="0">
              <a:buNone/>
            </a:pPr>
            <a:endParaRPr lang="en" dirty="0"/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13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726858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8E662F-B793-4AB9-9A40-7FB815B7AED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2932" y="3864917"/>
            <a:ext cx="2203989" cy="2108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D3321B-49BC-45A6-B9E7-22D40E5D38F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848" y="3107865"/>
            <a:ext cx="3543408" cy="28885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D50037-A351-471D-A306-C2FA4115330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20440" y="3265623"/>
            <a:ext cx="2091115" cy="210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2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D6C66CEF-B846-8AEF-E2B4-C8EBF9E26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>
            <a:extLst>
              <a:ext uri="{FF2B5EF4-FFF2-40B4-BE49-F238E27FC236}">
                <a16:creationId xmlns:a16="http://schemas.microsoft.com/office/drawing/2014/main" id="{7CD878E2-E4C3-B6D2-A54D-CCFB7AD03B3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291487" y="1805210"/>
            <a:ext cx="3945232" cy="3706242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Finite Element</a:t>
            </a:r>
            <a:endParaRPr lang="en" b="1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FELFLOW commonly used in mining industry due. </a:t>
            </a:r>
          </a:p>
          <a:p>
            <a:pPr lvl="0">
              <a:buNone/>
            </a:pPr>
            <a:r>
              <a:rPr lang="en-US" dirty="0"/>
              <a:t>-Complex grids are often employed.</a:t>
            </a:r>
          </a:p>
          <a:p>
            <a:pPr lvl="0">
              <a:buNone/>
            </a:pPr>
            <a:r>
              <a:rPr lang="en-US" dirty="0"/>
              <a:t>-Representation of boundary conditions  often simplified.</a:t>
            </a:r>
          </a:p>
          <a:p>
            <a:pPr lvl="0">
              <a:buNone/>
            </a:pPr>
            <a:r>
              <a:rPr lang="en-US" dirty="0"/>
              <a:t>-Run time and file size can become issues.</a:t>
            </a:r>
          </a:p>
          <a:p>
            <a:pPr lvl="0">
              <a:buNone/>
            </a:pPr>
            <a:r>
              <a:rPr lang="en-US" dirty="0"/>
              <a:t>-Costs ~$5,000 - $8,000 per year</a:t>
            </a:r>
            <a:endParaRPr lang="en" dirty="0"/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06616236-AB47-7690-38D3-046EC970FD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14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402891A-266E-6076-BD8D-35CED7E80888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0F798D0B-4D86-73AC-27A2-F40E15D1283C}"/>
              </a:ext>
            </a:extLst>
          </p:cNvPr>
          <p:cNvSpPr txBox="1">
            <a:spLocks/>
          </p:cNvSpPr>
          <p:nvPr/>
        </p:nvSpPr>
        <p:spPr>
          <a:xfrm>
            <a:off x="941696" y="726858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45306-2151-AEC5-5B4E-1E734375D2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pic>
        <p:nvPicPr>
          <p:cNvPr id="1026" name="Picture 2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56A546F7-74CC-E211-58A6-60ACC732BC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59152" y="1435713"/>
            <a:ext cx="3945232" cy="534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813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85B2F2A-BC2E-1526-1EBC-59C592A3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2D0C32-69F7-92F6-B07E-D7AE6467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487" y="2607735"/>
            <a:ext cx="5124156" cy="4035120"/>
          </a:xfrm>
          <a:prstGeom prst="rect">
            <a:avLst/>
          </a:prstGeom>
        </p:spPr>
      </p:pic>
      <p:sp>
        <p:nvSpPr>
          <p:cNvPr id="143" name="Shape 143">
            <a:extLst>
              <a:ext uri="{FF2B5EF4-FFF2-40B4-BE49-F238E27FC236}">
                <a16:creationId xmlns:a16="http://schemas.microsoft.com/office/drawing/2014/main" id="{79132E42-33BC-BE15-D563-F066736EE00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291487" y="1348007"/>
            <a:ext cx="3945232" cy="3706242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Finite Element</a:t>
            </a:r>
            <a:endParaRPr lang="en" b="1" dirty="0"/>
          </a:p>
          <a:p>
            <a:pPr lvl="0">
              <a:buNone/>
            </a:pPr>
            <a:r>
              <a:rPr lang="en-US" dirty="0" err="1"/>
              <a:t>HydroGeoSphere</a:t>
            </a:r>
            <a:r>
              <a:rPr lang="en-US" dirty="0"/>
              <a:t> is used in mining industry, contaminated sites, and integrated modeling.</a:t>
            </a:r>
          </a:p>
          <a:p>
            <a:pPr lvl="0">
              <a:buNone/>
            </a:pPr>
            <a:r>
              <a:rPr lang="en-US" dirty="0"/>
              <a:t>-Solves unsaturated flow equation.</a:t>
            </a:r>
          </a:p>
          <a:p>
            <a:pPr lvl="0">
              <a:buNone/>
            </a:pPr>
            <a:r>
              <a:rPr lang="en-US" dirty="0"/>
              <a:t>-Includes complex chemical and multiphase options.</a:t>
            </a:r>
          </a:p>
          <a:p>
            <a:pPr lvl="0">
              <a:buNone/>
            </a:pPr>
            <a:r>
              <a:rPr lang="en-US" dirty="0"/>
              <a:t>-Run time can become an issue.</a:t>
            </a:r>
          </a:p>
          <a:p>
            <a:pPr lvl="0">
              <a:buNone/>
            </a:pPr>
            <a:r>
              <a:rPr lang="en-US" dirty="0"/>
              <a:t>-Costs ~$10,000 per year</a:t>
            </a:r>
            <a:endParaRPr lang="en" dirty="0"/>
          </a:p>
          <a:p>
            <a:pPr lvl="0">
              <a:buNone/>
            </a:pP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03F5095-730D-1F58-6556-C7FADF949932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0015328A-6520-0264-E314-09CEB0061F30}"/>
              </a:ext>
            </a:extLst>
          </p:cNvPr>
          <p:cNvSpPr txBox="1">
            <a:spLocks/>
          </p:cNvSpPr>
          <p:nvPr/>
        </p:nvSpPr>
        <p:spPr>
          <a:xfrm>
            <a:off x="941696" y="726858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335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791574" y="1204742"/>
            <a:ext cx="7506606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Finite Volume</a:t>
            </a:r>
            <a:endParaRPr lang="en" b="1" dirty="0"/>
          </a:p>
          <a:p>
            <a:pPr lvl="0">
              <a:buNone/>
            </a:pPr>
            <a:r>
              <a:rPr lang="en-US" dirty="0"/>
              <a:t>Cutting-edge method developed Sorab Panday (GSI, USGS)</a:t>
            </a:r>
          </a:p>
          <a:p>
            <a:pPr lvl="0">
              <a:buNone/>
            </a:pPr>
            <a:r>
              <a:rPr lang="en-US" dirty="0"/>
              <a:t>allowing more complex grid options.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16</a:t>
            </a:fld>
            <a:endParaRPr lang="e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TERMS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698221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Models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301A7D-C9C8-4297-B774-68648E27EA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138" y="3079974"/>
            <a:ext cx="2237254" cy="25725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A943D3-4AF0-4EBC-BE33-EC450F026AA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1586" y="3086337"/>
            <a:ext cx="2535961" cy="2569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0D659A-C608-476C-B2BC-521D56A585B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688" y="3020381"/>
            <a:ext cx="2676170" cy="25694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B40F218-AEEB-43A6-A1ED-474B3D94FA06}"/>
              </a:ext>
            </a:extLst>
          </p:cNvPr>
          <p:cNvSpPr/>
          <p:nvPr/>
        </p:nvSpPr>
        <p:spPr>
          <a:xfrm>
            <a:off x="403546" y="3013043"/>
            <a:ext cx="320181" cy="33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4ADC3B-F3D8-4782-99AA-CB4786E80C3B}"/>
              </a:ext>
            </a:extLst>
          </p:cNvPr>
          <p:cNvSpPr/>
          <p:nvPr/>
        </p:nvSpPr>
        <p:spPr>
          <a:xfrm>
            <a:off x="2816205" y="3078217"/>
            <a:ext cx="320181" cy="201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46DF32-C8BC-4C4C-9CB8-6D4687D9E18D}"/>
              </a:ext>
            </a:extLst>
          </p:cNvPr>
          <p:cNvSpPr/>
          <p:nvPr/>
        </p:nvSpPr>
        <p:spPr>
          <a:xfrm>
            <a:off x="5632102" y="3022379"/>
            <a:ext cx="349012" cy="364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8" name="Shape 143">
            <a:extLst>
              <a:ext uri="{FF2B5EF4-FFF2-40B4-BE49-F238E27FC236}">
                <a16:creationId xmlns:a16="http://schemas.microsoft.com/office/drawing/2014/main" id="{C326744A-FC2D-2FC2-296C-56F1469689F9}"/>
              </a:ext>
            </a:extLst>
          </p:cNvPr>
          <p:cNvSpPr txBox="1">
            <a:spLocks/>
          </p:cNvSpPr>
          <p:nvPr/>
        </p:nvSpPr>
        <p:spPr>
          <a:xfrm>
            <a:off x="877788" y="2219328"/>
            <a:ext cx="4281316" cy="48576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 2" panose="05020102010507070707" pitchFamily="18" charset="2"/>
              </a:rPr>
              <a:t> 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MODFLOW-USG, MODFLOW 6</a:t>
            </a:r>
          </a:p>
          <a:p>
            <a:pPr>
              <a:buFont typeface="Source Sans Pro"/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7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5FF55D20-6263-4358-81C8-3FE16DD205DB}"/>
              </a:ext>
            </a:extLst>
          </p:cNvPr>
          <p:cNvSpPr/>
          <p:nvPr/>
        </p:nvSpPr>
        <p:spPr>
          <a:xfrm>
            <a:off x="642684" y="3046327"/>
            <a:ext cx="5789294" cy="694944"/>
          </a:xfrm>
          <a:prstGeom prst="rightArrowCallout">
            <a:avLst>
              <a:gd name="adj1" fmla="val 35571"/>
              <a:gd name="adj2" fmla="val 42618"/>
              <a:gd name="adj3" fmla="val 40856"/>
              <a:gd name="adj4" fmla="val 9163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4" name="Callout: Right Arrow 3">
            <a:extLst>
              <a:ext uri="{FF2B5EF4-FFF2-40B4-BE49-F238E27FC236}">
                <a16:creationId xmlns:a16="http://schemas.microsoft.com/office/drawing/2014/main" id="{21F1DBE0-9687-4291-8F3C-1454BB3DBA83}"/>
              </a:ext>
            </a:extLst>
          </p:cNvPr>
          <p:cNvSpPr/>
          <p:nvPr/>
        </p:nvSpPr>
        <p:spPr>
          <a:xfrm>
            <a:off x="642685" y="1957247"/>
            <a:ext cx="5789294" cy="1005840"/>
          </a:xfrm>
          <a:prstGeom prst="rightArrowCallout">
            <a:avLst>
              <a:gd name="adj1" fmla="val 26403"/>
              <a:gd name="adj2" fmla="val 25000"/>
              <a:gd name="adj3" fmla="val 25000"/>
              <a:gd name="adj4" fmla="val 91580"/>
            </a:avLst>
          </a:prstGeom>
          <a:solidFill>
            <a:srgbClr val="349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2" y="1462723"/>
            <a:ext cx="5446632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Usage</a:t>
            </a:r>
            <a:br>
              <a:rPr lang="en-US" b="1" dirty="0"/>
            </a:br>
            <a:endParaRPr lang="en" sz="900" b="1" dirty="0"/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-Basic understanding of groundwater system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-Estimation of aquifer properties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-Understanding the present</a:t>
            </a:r>
          </a:p>
          <a:p>
            <a:pPr lvl="0">
              <a:spcBef>
                <a:spcPts val="0"/>
              </a:spcBef>
              <a:buNone/>
            </a:pPr>
            <a:endParaRPr lang="en-US" sz="1050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-Understanding the past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-Estimating future conditions</a:t>
            </a:r>
            <a:endParaRPr lang="en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Common Applications</a:t>
            </a:r>
            <a:endParaRPr lang="en" b="1" dirty="0"/>
          </a:p>
          <a:p>
            <a:pPr lvl="0">
              <a:buNone/>
            </a:pPr>
            <a:r>
              <a:rPr lang="en-US" dirty="0"/>
              <a:t> -Predicting the effects of groundwater pumping on future availability.</a:t>
            </a:r>
          </a:p>
          <a:p>
            <a:pPr lvl="0">
              <a:buNone/>
            </a:pPr>
            <a:r>
              <a:rPr lang="en-US" dirty="0"/>
              <a:t> -Predicting the effects of enhanced recharge on local groundwater levels.</a:t>
            </a:r>
          </a:p>
          <a:p>
            <a:pPr lvl="0">
              <a:buNone/>
            </a:pPr>
            <a:r>
              <a:rPr lang="en-US" dirty="0"/>
              <a:t> -Determining the direction of transport in a groundwater system to avoid potential risk.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17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USAGE JUSTIFICATION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26226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Do We Model?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sp>
        <p:nvSpPr>
          <p:cNvPr id="13" name="Shape 141">
            <a:extLst>
              <a:ext uri="{FF2B5EF4-FFF2-40B4-BE49-F238E27FC236}">
                <a16:creationId xmlns:a16="http://schemas.microsoft.com/office/drawing/2014/main" id="{D73F3501-7583-4051-B5C0-AA5B8219A0EA}"/>
              </a:ext>
            </a:extLst>
          </p:cNvPr>
          <p:cNvSpPr txBox="1">
            <a:spLocks/>
          </p:cNvSpPr>
          <p:nvPr/>
        </p:nvSpPr>
        <p:spPr>
          <a:xfrm>
            <a:off x="6552629" y="2217731"/>
            <a:ext cx="4723974" cy="51709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Interpretive</a:t>
            </a:r>
            <a:endParaRPr lang="e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41">
            <a:extLst>
              <a:ext uri="{FF2B5EF4-FFF2-40B4-BE49-F238E27FC236}">
                <a16:creationId xmlns:a16="http://schemas.microsoft.com/office/drawing/2014/main" id="{367855FB-39EA-4487-87BA-7F23D8AF1CBD}"/>
              </a:ext>
            </a:extLst>
          </p:cNvPr>
          <p:cNvSpPr txBox="1">
            <a:spLocks/>
          </p:cNvSpPr>
          <p:nvPr/>
        </p:nvSpPr>
        <p:spPr>
          <a:xfrm>
            <a:off x="6552629" y="2984339"/>
            <a:ext cx="1746821" cy="81931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Hindcasting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Forecasting</a:t>
            </a:r>
            <a:endParaRPr lang="e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941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599061" y="1610955"/>
            <a:ext cx="6788321" cy="3445139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When to Use a Model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A model should be used when estimating the response of </a:t>
            </a:r>
            <a:br>
              <a:rPr lang="en-US" dirty="0"/>
            </a:br>
            <a:r>
              <a:rPr lang="en-US" dirty="0"/>
              <a:t>an aquifer system to stresses or significant physical changes.</a:t>
            </a:r>
          </a:p>
          <a:p>
            <a:pPr lvl="0">
              <a:spcBef>
                <a:spcPts val="0"/>
              </a:spcBef>
              <a:buNone/>
            </a:pPr>
            <a:endParaRPr lang="en-US" dirty="0"/>
          </a:p>
          <a:p>
            <a:pPr lvl="0">
              <a:buNone/>
            </a:pPr>
            <a:r>
              <a:rPr lang="en-US" b="1" dirty="0"/>
              <a:t>Cautionary Notes</a:t>
            </a:r>
            <a:endParaRPr lang="en" b="1" dirty="0"/>
          </a:p>
          <a:p>
            <a:pPr lvl="0">
              <a:buNone/>
            </a:pPr>
            <a:r>
              <a:rPr lang="en-US" dirty="0"/>
              <a:t>All models are inexact and expressing the degree of uncertainty is necessary. </a:t>
            </a:r>
          </a:p>
          <a:p>
            <a:pPr lvl="0">
              <a:buNone/>
            </a:pPr>
            <a:r>
              <a:rPr lang="en-US" dirty="0"/>
              <a:t>Models can be expensive and, in some cases, are not justified due to cost and desired outcomes.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18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USAGE JUSTIFICATION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Do We Model?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34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015152A5-6A09-FB28-342C-0C62AD83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Shape 248">
                <a:extLst>
                  <a:ext uri="{FF2B5EF4-FFF2-40B4-BE49-F238E27FC236}">
                    <a16:creationId xmlns:a16="http://schemas.microsoft.com/office/drawing/2014/main" id="{610EAA22-FF48-735B-0627-121FEF16D9EC}"/>
                  </a:ext>
                </a:extLst>
              </p:cNvPr>
              <p:cNvSpPr txBox="1">
                <a:spLocks noGrp="1"/>
              </p:cNvSpPr>
              <p:nvPr>
                <p:ph type="ctrTitle" idx="4294967295"/>
              </p:nvPr>
            </p:nvSpPr>
            <p:spPr>
              <a:xfrm>
                <a:off x="477671" y="1609441"/>
                <a:ext cx="8243247" cy="1924357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noAutofit/>
              </a:bodyPr>
              <a:lstStyle/>
              <a:p>
                <a:pPr lvl="0"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sub>
                    </m:sSub>
                    <m:f>
                      <m:f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𝐡</m:t>
                        </m:r>
                      </m:num>
                      <m:den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den>
                    </m:f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</m:num>
                      <m:den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  <m:r>
                          <a:rPr lang="pt-BR" sz="2800" b="1" i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latin typeface="Cambria Math" panose="02040503050406030204" pitchFamily="18" charset="0"/>
                              </a:rPr>
                              <m:t>𝐊</m:t>
                            </m:r>
                          </m:e>
                          <m:sub>
                            <m:r>
                              <a:rPr lang="en-US" sz="2800" b="1" i="0">
                                <a:latin typeface="Cambria Math" panose="02040503050406030204" pitchFamily="18" charset="0"/>
                              </a:rPr>
                              <m:t>𝐱𝐱</m:t>
                            </m:r>
                          </m:sub>
                        </m:sSub>
                        <m:f>
                          <m:fPr>
                            <m:ctrlPr>
                              <a:rPr lang="pt-BR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𝐡</m:t>
                            </m:r>
                          </m:num>
                          <m:den>
                            <m:r>
                              <a:rPr lang="pt-BR" sz="28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pt-BR" sz="2800" b="1" i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</m:e>
                    </m:d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</m:num>
                      <m:den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den>
                    </m:f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latin typeface="Cambria Math" panose="02040503050406030204" pitchFamily="18" charset="0"/>
                              </a:rPr>
                              <m:t>𝐊</m:t>
                            </m:r>
                          </m:e>
                          <m:sub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𝐲𝐲</m:t>
                            </m:r>
                          </m:sub>
                        </m:sSub>
                        <m:f>
                          <m:fPr>
                            <m:ctrlPr>
                              <a:rPr lang="pt-BR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𝐡</m:t>
                            </m:r>
                          </m:num>
                          <m:den>
                            <m:r>
                              <a:rPr lang="pt-BR" sz="28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den>
                        </m:f>
                      </m:e>
                    </m:d>
                    <m:r>
                      <a:rPr lang="en-US" sz="2800" b="1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</m:num>
                      <m:den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𝛛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den>
                    </m:f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latin typeface="Cambria Math" panose="02040503050406030204" pitchFamily="18" charset="0"/>
                              </a:rPr>
                              <m:t>𝐊</m:t>
                            </m:r>
                          </m:e>
                          <m:sub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𝐳𝐳</m:t>
                            </m:r>
                          </m:sub>
                        </m:sSub>
                        <m:f>
                          <m:fPr>
                            <m:ctrlPr>
                              <a:rPr lang="pt-BR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𝐡</m:t>
                            </m:r>
                          </m:num>
                          <m:den>
                            <m:r>
                              <a:rPr lang="pt-BR" sz="28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𝐳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b="1" dirty="0">
                    <a:latin typeface="Segoe UI" panose="020B0502040204020203" pitchFamily="34" charset="0"/>
                    <a:ea typeface="Tahoma" panose="020B0604030504040204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endParaRPr lang="en" sz="2800" b="1" dirty="0">
                  <a:latin typeface="Segoe UI" panose="020B0502040204020203" pitchFamily="34" charset="0"/>
                  <a:ea typeface="Tahoma" panose="020B0604030504040204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48" name="Shape 24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ctrTitle" idx="4294967295"/>
              </p:nvPr>
            </p:nvSpPr>
            <p:spPr>
              <a:xfrm>
                <a:off x="477671" y="1609441"/>
                <a:ext cx="8243247" cy="19243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9" name="Shape 249">
            <a:extLst>
              <a:ext uri="{FF2B5EF4-FFF2-40B4-BE49-F238E27FC236}">
                <a16:creationId xmlns:a16="http://schemas.microsoft.com/office/drawing/2014/main" id="{CEB17B9B-FE8D-184A-0ECF-B44B03D920A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73604" y="4310947"/>
            <a:ext cx="8196793" cy="192435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Governing Equation: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Richard’s Law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(MacDonald and Harbaugh, 1988)</a:t>
            </a:r>
          </a:p>
          <a:p>
            <a:pPr lvl="0" algn="ctr" rtl="0">
              <a:spcBef>
                <a:spcPts val="0"/>
              </a:spcBef>
              <a:buNone/>
            </a:pP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ctr" rtl="0">
              <a:spcBef>
                <a:spcPts val="0"/>
              </a:spcBef>
              <a:buNone/>
            </a:pPr>
            <a:endParaRPr lang="e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0" name="Shape 250">
            <a:extLst>
              <a:ext uri="{FF2B5EF4-FFF2-40B4-BE49-F238E27FC236}">
                <a16:creationId xmlns:a16="http://schemas.microsoft.com/office/drawing/2014/main" id="{40349570-A144-A6CD-21B9-66FDFC32E5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19</a:t>
            </a:fld>
            <a:endParaRPr lang="en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DC4987A8-9D3C-3088-CB8A-64A12E938AB5}"/>
              </a:ext>
            </a:extLst>
          </p:cNvPr>
          <p:cNvSpPr/>
          <p:nvPr/>
        </p:nvSpPr>
        <p:spPr>
          <a:xfrm>
            <a:off x="1146414" y="1453369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BD710-5E0E-2FED-BD6F-A23020537F19}"/>
              </a:ext>
            </a:extLst>
          </p:cNvPr>
          <p:cNvSpPr txBox="1"/>
          <p:nvPr/>
        </p:nvSpPr>
        <p:spPr>
          <a:xfrm>
            <a:off x="648270" y="893729"/>
            <a:ext cx="140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Change in Head over time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7DEA1B6-0AA1-3655-59F9-C5E4C18D88A1}"/>
              </a:ext>
            </a:extLst>
          </p:cNvPr>
          <p:cNvSpPr/>
          <p:nvPr/>
        </p:nvSpPr>
        <p:spPr>
          <a:xfrm flipV="1">
            <a:off x="680870" y="2982691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F6D71-F985-E731-C47E-137F86B5B2DC}"/>
              </a:ext>
            </a:extLst>
          </p:cNvPr>
          <p:cNvSpPr txBox="1"/>
          <p:nvPr/>
        </p:nvSpPr>
        <p:spPr>
          <a:xfrm>
            <a:off x="182726" y="3712744"/>
            <a:ext cx="140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Specific Storage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4295086-F1ED-E271-CC5D-19F6357412E7}"/>
              </a:ext>
            </a:extLst>
          </p:cNvPr>
          <p:cNvSpPr/>
          <p:nvPr/>
        </p:nvSpPr>
        <p:spPr>
          <a:xfrm flipV="1">
            <a:off x="2578287" y="3016713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ACE47-BD15-34D6-5551-C4011DB81CBC}"/>
              </a:ext>
            </a:extLst>
          </p:cNvPr>
          <p:cNvSpPr txBox="1"/>
          <p:nvPr/>
        </p:nvSpPr>
        <p:spPr>
          <a:xfrm>
            <a:off x="2190210" y="3746766"/>
            <a:ext cx="5262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Hydraulic Conductivity in Principal Directions of Flow 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985A399-D7FE-611F-23AF-F5940F5F23BB}"/>
              </a:ext>
            </a:extLst>
          </p:cNvPr>
          <p:cNvSpPr/>
          <p:nvPr/>
        </p:nvSpPr>
        <p:spPr>
          <a:xfrm flipV="1">
            <a:off x="4610671" y="3016106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F4FA917-A23A-64CA-72E1-FC8AA9FDB8AD}"/>
              </a:ext>
            </a:extLst>
          </p:cNvPr>
          <p:cNvSpPr/>
          <p:nvPr/>
        </p:nvSpPr>
        <p:spPr>
          <a:xfrm flipV="1">
            <a:off x="6619161" y="3010896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3505CC8-2E8D-2353-87C0-FBAFDF0675F7}"/>
              </a:ext>
            </a:extLst>
          </p:cNvPr>
          <p:cNvSpPr/>
          <p:nvPr/>
        </p:nvSpPr>
        <p:spPr>
          <a:xfrm>
            <a:off x="8001399" y="1350133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EEDEA-E275-BD8D-8970-276B91B88D2C}"/>
              </a:ext>
            </a:extLst>
          </p:cNvPr>
          <p:cNvSpPr txBox="1"/>
          <p:nvPr/>
        </p:nvSpPr>
        <p:spPr>
          <a:xfrm>
            <a:off x="7762184" y="790493"/>
            <a:ext cx="887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Source or Sink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9CF1009-9590-F89B-86B5-EA17E0EABDEF}"/>
              </a:ext>
            </a:extLst>
          </p:cNvPr>
          <p:cNvSpPr/>
          <p:nvPr/>
        </p:nvSpPr>
        <p:spPr>
          <a:xfrm flipH="1">
            <a:off x="3058238" y="1355172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C031471-91AB-1DF5-E7BA-78CE3CAD7143}"/>
              </a:ext>
            </a:extLst>
          </p:cNvPr>
          <p:cNvSpPr/>
          <p:nvPr/>
        </p:nvSpPr>
        <p:spPr>
          <a:xfrm flipH="1">
            <a:off x="5090622" y="1354565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B8098C85-2BC4-04A4-5D79-FF44EEDFFEEE}"/>
              </a:ext>
            </a:extLst>
          </p:cNvPr>
          <p:cNvSpPr/>
          <p:nvPr/>
        </p:nvSpPr>
        <p:spPr>
          <a:xfrm flipH="1">
            <a:off x="7099112" y="1349355"/>
            <a:ext cx="409433" cy="68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F98DD1-6DD3-D7FC-364A-0CB4427488AE}"/>
              </a:ext>
            </a:extLst>
          </p:cNvPr>
          <p:cNvSpPr txBox="1"/>
          <p:nvPr/>
        </p:nvSpPr>
        <p:spPr>
          <a:xfrm>
            <a:off x="2664161" y="964293"/>
            <a:ext cx="5262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Change in Head in Principal Directions of Flow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B35AE-C3A7-F6C3-A4E6-A27C4BB6E11B}"/>
              </a:ext>
            </a:extLst>
          </p:cNvPr>
          <p:cNvSpPr txBox="1"/>
          <p:nvPr/>
        </p:nvSpPr>
        <p:spPr>
          <a:xfrm>
            <a:off x="406698" y="312627"/>
            <a:ext cx="2112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MASS CHANGE TERM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2395B00E-B34A-F748-A187-E656EA31E01D}"/>
              </a:ext>
            </a:extLst>
          </p:cNvPr>
          <p:cNvSpPr/>
          <p:nvPr/>
        </p:nvSpPr>
        <p:spPr>
          <a:xfrm rot="5400000">
            <a:off x="1195936" y="247495"/>
            <a:ext cx="307778" cy="990999"/>
          </a:xfrm>
          <a:prstGeom prst="leftBrace">
            <a:avLst>
              <a:gd name="adj1" fmla="val 113190"/>
              <a:gd name="adj2" fmla="val 49192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 w="38100">
                <a:solidFill>
                  <a:schemeClr val="tx1"/>
                </a:solidFill>
              </a:ln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674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768C3E8C-3A02-EC17-84BA-1AE482579B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0468" y="753535"/>
            <a:ext cx="4656666" cy="5314765"/>
          </a:xfrm>
          <a:prstGeom prst="rect">
            <a:avLst/>
          </a:prstGeom>
        </p:spPr>
      </p:pic>
      <p:sp>
        <p:nvSpPr>
          <p:cNvPr id="249" name="Shape 249"/>
          <p:cNvSpPr txBox="1">
            <a:spLocks noGrp="1"/>
          </p:cNvSpPr>
          <p:nvPr>
            <p:ph type="subTitle" idx="4294967295"/>
          </p:nvPr>
        </p:nvSpPr>
        <p:spPr>
          <a:xfrm>
            <a:off x="1153793" y="5938156"/>
            <a:ext cx="3890017" cy="962179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 Model</a:t>
            </a:r>
          </a:p>
          <a:p>
            <a:pPr lvl="0" algn="ctr" rtl="0">
              <a:spcBef>
                <a:spcPts val="0"/>
              </a:spcBef>
              <a:buNone/>
            </a:pPr>
            <a:endParaRPr lang="en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0" name="Shape 250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20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E2307-3B19-42AF-BC40-BE0FB3E9EE50}"/>
              </a:ext>
            </a:extLst>
          </p:cNvPr>
          <p:cNvSpPr txBox="1"/>
          <p:nvPr/>
        </p:nvSpPr>
        <p:spPr>
          <a:xfrm>
            <a:off x="5768209" y="2431333"/>
            <a:ext cx="301413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Governing equation is solved simultaneously for each node or volumetric block connected in a grid.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C2DDA07F-822F-FC73-6E03-65E955E5317E}"/>
              </a:ext>
            </a:extLst>
          </p:cNvPr>
          <p:cNvSpPr txBox="1">
            <a:spLocks/>
          </p:cNvSpPr>
          <p:nvPr/>
        </p:nvSpPr>
        <p:spPr>
          <a:xfrm>
            <a:off x="136478" y="97082"/>
            <a:ext cx="8888989" cy="85553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GROUNDWATER FLOW EQUATION</a:t>
            </a:r>
          </a:p>
        </p:txBody>
      </p:sp>
    </p:spTree>
    <p:extLst>
      <p:ext uri="{BB962C8B-B14F-4D97-AF65-F5344CB8AC3E}">
        <p14:creationId xmlns:p14="http://schemas.microsoft.com/office/powerpoint/2010/main" val="1245620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9971A826-312E-4765-811E-B83CC4FEC945}"/>
              </a:ext>
            </a:extLst>
          </p:cNvPr>
          <p:cNvSpPr/>
          <p:nvPr/>
        </p:nvSpPr>
        <p:spPr>
          <a:xfrm>
            <a:off x="629642" y="5399951"/>
            <a:ext cx="3527439" cy="292608"/>
          </a:xfrm>
          <a:prstGeom prst="rightArrowCallout">
            <a:avLst>
              <a:gd name="adj1" fmla="val 35571"/>
              <a:gd name="adj2" fmla="val 50000"/>
              <a:gd name="adj3" fmla="val 45505"/>
              <a:gd name="adj4" fmla="val 86239"/>
            </a:avLst>
          </a:prstGeom>
          <a:solidFill>
            <a:srgbClr val="349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2" name="Shape 141">
            <a:extLst>
              <a:ext uri="{FF2B5EF4-FFF2-40B4-BE49-F238E27FC236}">
                <a16:creationId xmlns:a16="http://schemas.microsoft.com/office/drawing/2014/main" id="{F3758E76-C7E2-451E-9012-0CDD469B99FA}"/>
              </a:ext>
            </a:extLst>
          </p:cNvPr>
          <p:cNvSpPr txBox="1">
            <a:spLocks/>
          </p:cNvSpPr>
          <p:nvPr/>
        </p:nvSpPr>
        <p:spPr>
          <a:xfrm>
            <a:off x="4256563" y="5287706"/>
            <a:ext cx="3236889" cy="51709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Proprietary Version</a:t>
            </a:r>
            <a:endParaRPr lang="e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Callout: Right Arrow 15">
            <a:extLst>
              <a:ext uri="{FF2B5EF4-FFF2-40B4-BE49-F238E27FC236}">
                <a16:creationId xmlns:a16="http://schemas.microsoft.com/office/drawing/2014/main" id="{E75A2723-FCF2-4179-90E2-6129AAD863E2}"/>
              </a:ext>
            </a:extLst>
          </p:cNvPr>
          <p:cNvSpPr/>
          <p:nvPr/>
        </p:nvSpPr>
        <p:spPr>
          <a:xfrm>
            <a:off x="637622" y="2515975"/>
            <a:ext cx="3521423" cy="1188720"/>
          </a:xfrm>
          <a:prstGeom prst="rightArrowCallout">
            <a:avLst>
              <a:gd name="adj1" fmla="val 22704"/>
              <a:gd name="adj2" fmla="val 25000"/>
              <a:gd name="adj3" fmla="val 21556"/>
              <a:gd name="adj4" fmla="val 86056"/>
            </a:avLst>
          </a:prstGeom>
          <a:solidFill>
            <a:srgbClr val="C2C2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5" name="Callout: Right Arrow 14">
            <a:extLst>
              <a:ext uri="{FF2B5EF4-FFF2-40B4-BE49-F238E27FC236}">
                <a16:creationId xmlns:a16="http://schemas.microsoft.com/office/drawing/2014/main" id="{BF02E207-2DC5-46C9-879F-036A626CA437}"/>
              </a:ext>
            </a:extLst>
          </p:cNvPr>
          <p:cNvSpPr/>
          <p:nvPr/>
        </p:nvSpPr>
        <p:spPr>
          <a:xfrm>
            <a:off x="628617" y="1894617"/>
            <a:ext cx="3527439" cy="603504"/>
          </a:xfrm>
          <a:prstGeom prst="rightArrowCallout">
            <a:avLst>
              <a:gd name="adj1" fmla="val 35571"/>
              <a:gd name="adj2" fmla="val 42618"/>
              <a:gd name="adj3" fmla="val 41843"/>
              <a:gd name="adj4" fmla="val 86239"/>
            </a:avLst>
          </a:prstGeom>
          <a:solidFill>
            <a:srgbClr val="3499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21</a:t>
            </a:fld>
            <a:endParaRPr lang="e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26226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Versions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sp>
        <p:nvSpPr>
          <p:cNvPr id="13" name="Shape 141">
            <a:extLst>
              <a:ext uri="{FF2B5EF4-FFF2-40B4-BE49-F238E27FC236}">
                <a16:creationId xmlns:a16="http://schemas.microsoft.com/office/drawing/2014/main" id="{D73F3501-7583-4051-B5C0-AA5B8219A0EA}"/>
              </a:ext>
            </a:extLst>
          </p:cNvPr>
          <p:cNvSpPr txBox="1">
            <a:spLocks/>
          </p:cNvSpPr>
          <p:nvPr/>
        </p:nvSpPr>
        <p:spPr>
          <a:xfrm>
            <a:off x="4256563" y="1937820"/>
            <a:ext cx="2274347" cy="51709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Longer Used</a:t>
            </a:r>
            <a:endParaRPr lang="e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Shape 141">
            <a:extLst>
              <a:ext uri="{FF2B5EF4-FFF2-40B4-BE49-F238E27FC236}">
                <a16:creationId xmlns:a16="http://schemas.microsoft.com/office/drawing/2014/main" id="{367855FB-39EA-4487-87BA-7F23D8AF1CBD}"/>
              </a:ext>
            </a:extLst>
          </p:cNvPr>
          <p:cNvSpPr txBox="1">
            <a:spLocks/>
          </p:cNvSpPr>
          <p:nvPr/>
        </p:nvSpPr>
        <p:spPr>
          <a:xfrm>
            <a:off x="4256563" y="2701655"/>
            <a:ext cx="2274347" cy="90525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Still Used Commonly</a:t>
            </a:r>
            <a:endParaRPr lang="e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488123"/>
            <a:ext cx="3412430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Outdated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-MODFLOW 88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-MODFLOW 96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-MODFLOW 2000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-MODFLOW 2005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-MODFLOW NWT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 -MODFLOW LGR</a:t>
            </a:r>
            <a:endParaRPr lang="en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Actively Being Developed</a:t>
            </a:r>
            <a:endParaRPr lang="en" b="1" dirty="0"/>
          </a:p>
          <a:p>
            <a:pPr lvl="0">
              <a:buNone/>
            </a:pPr>
            <a:r>
              <a:rPr lang="en-US" dirty="0"/>
              <a:t> -MODFLOW One Water</a:t>
            </a:r>
          </a:p>
          <a:p>
            <a:pPr lvl="0">
              <a:buNone/>
            </a:pPr>
            <a:r>
              <a:rPr lang="en-US" dirty="0"/>
              <a:t> -MODFLOW USG</a:t>
            </a:r>
          </a:p>
          <a:p>
            <a:pPr lvl="0">
              <a:buNone/>
            </a:pPr>
            <a:r>
              <a:rPr lang="en-US" dirty="0"/>
              <a:t> -MODFLOW 6</a:t>
            </a:r>
          </a:p>
          <a:p>
            <a:pPr>
              <a:buNone/>
            </a:pPr>
            <a:r>
              <a:rPr lang="en-US" dirty="0"/>
              <a:t> -MODFLOW-SURFACT</a:t>
            </a:r>
          </a:p>
          <a:p>
            <a:pPr lv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13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791573" y="1617128"/>
            <a:ext cx="3162131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Release Info</a:t>
            </a:r>
            <a:endParaRPr lang="en" b="1" dirty="0"/>
          </a:p>
          <a:p>
            <a:pPr lvl="0">
              <a:buNone/>
            </a:pPr>
            <a:r>
              <a:rPr lang="en-US" dirty="0"/>
              <a:t>MODFLOW-OWHM: One Water Hydrologic Flow Model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V1.0.0 Released in 2014</a:t>
            </a:r>
          </a:p>
          <a:p>
            <a:pPr lvl="0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V1.0.12 Released in 2016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V2.3.0 Recently Released</a:t>
            </a:r>
          </a:p>
          <a:p>
            <a:pPr lvl="0">
              <a:buNone/>
            </a:pPr>
            <a:endParaRPr lang="en-US" dirty="0"/>
          </a:p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  <p:sp>
        <p:nvSpPr>
          <p:cNvPr id="143" name="Shape 143"/>
          <p:cNvSpPr txBox="1">
            <a:spLocks noGrp="1"/>
          </p:cNvSpPr>
          <p:nvPr>
            <p:ph type="body" idx="3"/>
          </p:nvPr>
        </p:nvSpPr>
        <p:spPr>
          <a:xfrm>
            <a:off x="3953704" y="1610955"/>
            <a:ext cx="4733095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Features</a:t>
            </a:r>
            <a:endParaRPr lang="en" b="1" dirty="0"/>
          </a:p>
          <a:p>
            <a:pPr>
              <a:buNone/>
            </a:pPr>
            <a:r>
              <a:rPr lang="en-US" dirty="0"/>
              <a:t>Ideal version for integrated and coupled hydrologic flow modeling.</a:t>
            </a:r>
          </a:p>
          <a:p>
            <a:pPr lvl="0" rtl="0">
              <a:spcBef>
                <a:spcPts val="0"/>
              </a:spcBef>
              <a:buNone/>
            </a:pPr>
            <a:endParaRPr lang="en-US" dirty="0"/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  -Newtonian Solver (NWT)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  -Local Grid Refinement (LGR)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  -Surface-Water Routing (SWR)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  -Farm Process (FMP2)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  -Subsidence w/Compaction (SWT)</a:t>
            </a:r>
          </a:p>
          <a:p>
            <a:pPr lvl="0" rtl="0">
              <a:spcBef>
                <a:spcPts val="0"/>
              </a:spcBef>
              <a:buNone/>
            </a:pPr>
            <a:r>
              <a:rPr lang="en" dirty="0"/>
              <a:t>  -</a:t>
            </a:r>
            <a:r>
              <a:rPr lang="en-US" dirty="0"/>
              <a:t>Riparian Evapotranspiration (RIP-ET)</a:t>
            </a:r>
          </a:p>
          <a:p>
            <a:pPr lvl="0" rtl="0">
              <a:spcBef>
                <a:spcPts val="0"/>
              </a:spcBef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  -Groundwater Flow (GWF)</a:t>
            </a:r>
          </a:p>
          <a:p>
            <a:pPr lvl="0">
              <a:buNone/>
            </a:pPr>
            <a:r>
              <a:rPr lang="en-US" dirty="0"/>
              <a:t>  -Connected Linear Networks (CLN)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22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One Water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77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dflow-usg-sub-layering2a">
            <a:extLst>
              <a:ext uri="{FF2B5EF4-FFF2-40B4-BE49-F238E27FC236}">
                <a16:creationId xmlns:a16="http://schemas.microsoft.com/office/drawing/2014/main" id="{7EA206CE-A78A-47EF-8175-F6C550FE2B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2142819" y="4277069"/>
            <a:ext cx="4858363" cy="242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465668" y="1617128"/>
            <a:ext cx="3598332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Release Info</a:t>
            </a:r>
            <a:endParaRPr lang="en" b="1" dirty="0"/>
          </a:p>
          <a:p>
            <a:pPr lvl="0">
              <a:buNone/>
            </a:pPr>
            <a:r>
              <a:rPr lang="en-US" dirty="0"/>
              <a:t>MODFLOW-USG: An Unstructured Grid Version</a:t>
            </a:r>
            <a:br>
              <a:rPr lang="en-US" dirty="0"/>
            </a:br>
            <a:r>
              <a:rPr lang="en-US" dirty="0"/>
              <a:t>of MODFLOW 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   1.0 Released in 2013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   2.5.0 Released in April 2025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" dirty="0"/>
          </a:p>
        </p:txBody>
      </p:sp>
      <p:sp>
        <p:nvSpPr>
          <p:cNvPr id="143" name="Shape 143"/>
          <p:cNvSpPr txBox="1">
            <a:spLocks noGrp="1"/>
          </p:cNvSpPr>
          <p:nvPr>
            <p:ph type="body" idx="3"/>
          </p:nvPr>
        </p:nvSpPr>
        <p:spPr>
          <a:xfrm>
            <a:off x="4216172" y="1610955"/>
            <a:ext cx="4648429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Features</a:t>
            </a:r>
            <a:endParaRPr lang="en" b="1" dirty="0"/>
          </a:p>
          <a:p>
            <a:pPr lvl="0">
              <a:buNone/>
            </a:pPr>
            <a:r>
              <a:rPr lang="en-US" dirty="0"/>
              <a:t>Control Volume Finite-Difference derivation allowing for complex grids</a:t>
            </a:r>
          </a:p>
          <a:p>
            <a:pPr lvl="0">
              <a:buNone/>
            </a:pPr>
            <a:endParaRPr lang="en-US" sz="1000" dirty="0"/>
          </a:p>
          <a:p>
            <a:pPr lvl="0">
              <a:buNone/>
            </a:pPr>
            <a:r>
              <a:rPr lang="en-US" dirty="0"/>
              <a:t>This is version contains an internal  geochemical transport module</a:t>
            </a:r>
          </a:p>
          <a:p>
            <a:pPr lvl="0">
              <a:buNone/>
            </a:pPr>
            <a:endParaRPr lang="en-US" sz="1000" dirty="0"/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  -Groundwater Flow (GWF)</a:t>
            </a:r>
          </a:p>
          <a:p>
            <a:pPr lvl="0">
              <a:buNone/>
            </a:pPr>
            <a:r>
              <a:rPr lang="en-US" dirty="0"/>
              <a:t>  -Connected Linear Networks (CLN)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USG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568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C8DC592-D302-FF38-9CF5-6CF39467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73100D15-492B-E886-312E-A8511A079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1514" y="1617128"/>
            <a:ext cx="4212803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Release Info</a:t>
            </a:r>
            <a:endParaRPr lang="en" b="1" dirty="0"/>
          </a:p>
          <a:p>
            <a:pPr lvl="0">
              <a:buNone/>
            </a:pPr>
            <a:r>
              <a:rPr lang="en-US" dirty="0"/>
              <a:t>MODFLOW-USG: An Unstructured Grid </a:t>
            </a:r>
            <a:r>
              <a:rPr lang="en-US" dirty="0" err="1"/>
              <a:t>Versionof</a:t>
            </a:r>
            <a:r>
              <a:rPr lang="en-US" dirty="0"/>
              <a:t> MODFLOW 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   6.0.0 Released in 2017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   6.6.0 Released in December 2024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" dirty="0"/>
          </a:p>
        </p:txBody>
      </p:sp>
      <p:sp>
        <p:nvSpPr>
          <p:cNvPr id="143" name="Shape 143">
            <a:extLst>
              <a:ext uri="{FF2B5EF4-FFF2-40B4-BE49-F238E27FC236}">
                <a16:creationId xmlns:a16="http://schemas.microsoft.com/office/drawing/2014/main" id="{91CFCD88-0DC3-DA39-A9B1-DBDE81C4A7F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454166" y="1610955"/>
            <a:ext cx="4376683" cy="2754366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Features</a:t>
            </a:r>
            <a:endParaRPr lang="en" b="1" dirty="0"/>
          </a:p>
          <a:p>
            <a:pPr lvl="0">
              <a:buNone/>
            </a:pPr>
            <a:r>
              <a:rPr lang="en-US" dirty="0"/>
              <a:t>Flexible grid options.</a:t>
            </a:r>
          </a:p>
          <a:p>
            <a:pPr lvl="0">
              <a:buNone/>
            </a:pPr>
            <a:endParaRPr lang="en-US" sz="1000" dirty="0"/>
          </a:p>
          <a:p>
            <a:pPr lvl="0">
              <a:buNone/>
            </a:pPr>
            <a:r>
              <a:rPr lang="en-US" dirty="0"/>
              <a:t>Currently being developed with new / updated features.</a:t>
            </a:r>
          </a:p>
          <a:p>
            <a:pPr lvl="0">
              <a:buNone/>
            </a:pPr>
            <a:endParaRPr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A095E8F-F1D7-374B-7D7D-BAD4ADEBE991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B5829BE3-48E5-1A7F-2976-F0469542FAFB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6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538967-AE56-4CE7-2C6E-87B37FC91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508" y="3391422"/>
            <a:ext cx="3435612" cy="3142249"/>
          </a:xfrm>
          <a:prstGeom prst="rect">
            <a:avLst/>
          </a:prstGeom>
        </p:spPr>
      </p:pic>
      <p:sp>
        <p:nvSpPr>
          <p:cNvPr id="7" name="Shape 141">
            <a:extLst>
              <a:ext uri="{FF2B5EF4-FFF2-40B4-BE49-F238E27FC236}">
                <a16:creationId xmlns:a16="http://schemas.microsoft.com/office/drawing/2014/main" id="{50A0642C-C5CD-195B-1870-3F27871C78AD}"/>
              </a:ext>
            </a:extLst>
          </p:cNvPr>
          <p:cNvSpPr txBox="1">
            <a:spLocks/>
          </p:cNvSpPr>
          <p:nvPr/>
        </p:nvSpPr>
        <p:spPr>
          <a:xfrm>
            <a:off x="22282" y="5398012"/>
            <a:ext cx="5251176" cy="107480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>
              <a:buNone/>
            </a:pPr>
            <a:r>
              <a:rPr lang="en-US" sz="1400" dirty="0"/>
              <a:t>https://hatarilabs.com/ih-en/regional-groundwater-modeling-near-a-water-reservoir-using-modflow6-and-mf6voronoi-tutorial</a:t>
            </a:r>
          </a:p>
        </p:txBody>
      </p:sp>
    </p:spTree>
    <p:extLst>
      <p:ext uri="{BB962C8B-B14F-4D97-AF65-F5344CB8AC3E}">
        <p14:creationId xmlns:p14="http://schemas.microsoft.com/office/powerpoint/2010/main" val="2789622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00A594-7DF7-4194-A0F7-8FEF88FD0083}"/>
              </a:ext>
            </a:extLst>
          </p:cNvPr>
          <p:cNvSpPr/>
          <p:nvPr/>
        </p:nvSpPr>
        <p:spPr>
          <a:xfrm>
            <a:off x="0" y="5450305"/>
            <a:ext cx="3534774" cy="1407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791574" y="1508840"/>
            <a:ext cx="2743200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Structured Grids</a:t>
            </a:r>
            <a:endParaRPr lang="en-US" dirty="0"/>
          </a:p>
          <a:p>
            <a:pPr lvl="0">
              <a:buNone/>
            </a:pPr>
            <a:endParaRPr lang="en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25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USG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18A5E2-39E5-4227-93B5-668B2617188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9768" y="1894248"/>
            <a:ext cx="7795358" cy="403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22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C61DBA-41DD-4B02-9C43-926398BC3C42}"/>
              </a:ext>
            </a:extLst>
          </p:cNvPr>
          <p:cNvSpPr/>
          <p:nvPr/>
        </p:nvSpPr>
        <p:spPr>
          <a:xfrm>
            <a:off x="0" y="5450305"/>
            <a:ext cx="3534774" cy="1407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791574" y="1496808"/>
            <a:ext cx="2743200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Unstructured Grids</a:t>
            </a: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26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USG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207F88-C70A-4608-B13A-C90D8912A8B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135" y="2004146"/>
            <a:ext cx="7813881" cy="40419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B47D15-308A-4664-B22C-F6490FF9419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135" y="1883826"/>
            <a:ext cx="7795358" cy="42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01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355601" y="1617128"/>
            <a:ext cx="3454139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Release Info</a:t>
            </a:r>
            <a:endParaRPr lang="en" b="1" dirty="0"/>
          </a:p>
          <a:p>
            <a:pPr lvl="0">
              <a:buNone/>
            </a:pPr>
            <a:r>
              <a:rPr lang="en-US" dirty="0"/>
              <a:t>MODFLOW 6: USGS Modular Hydrologic Model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6.0.1 Released in 2017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6.0.4 Released in 2019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6.6.2 Released May 12, 2025</a:t>
            </a:r>
          </a:p>
        </p:txBody>
      </p:sp>
      <p:sp>
        <p:nvSpPr>
          <p:cNvPr id="143" name="Shape 143"/>
          <p:cNvSpPr txBox="1">
            <a:spLocks noGrp="1"/>
          </p:cNvSpPr>
          <p:nvPr>
            <p:ph type="body" idx="3"/>
          </p:nvPr>
        </p:nvSpPr>
        <p:spPr>
          <a:xfrm>
            <a:off x="4131510" y="1610955"/>
            <a:ext cx="4639963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Features</a:t>
            </a:r>
            <a:endParaRPr lang="en" b="1" dirty="0"/>
          </a:p>
          <a:p>
            <a:pPr lvl="0">
              <a:buNone/>
            </a:pPr>
            <a:r>
              <a:rPr lang="en-US" dirty="0"/>
              <a:t>  -Object-Oriented Framework </a:t>
            </a:r>
          </a:p>
          <a:p>
            <a:pPr lvl="0">
              <a:buNone/>
            </a:pPr>
            <a:r>
              <a:rPr lang="en-US" dirty="0"/>
              <a:t>  -Complex Grids Allowed</a:t>
            </a:r>
            <a:endParaRPr lang="en" dirty="0"/>
          </a:p>
          <a:p>
            <a:pPr lvl="0">
              <a:buNone/>
            </a:pPr>
            <a:r>
              <a:rPr lang="en-US" dirty="0"/>
              <a:t>  -Control Volume Finite-Difference</a:t>
            </a:r>
          </a:p>
          <a:p>
            <a:pPr lvl="0">
              <a:buNone/>
            </a:pPr>
            <a:r>
              <a:rPr lang="en-US" dirty="0"/>
              <a:t>  -Direct Internal Coupling of Models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  -Groundwater Flow (GWF)</a:t>
            </a:r>
          </a:p>
          <a:p>
            <a:pPr lvl="0">
              <a:buNone/>
            </a:pPr>
            <a:r>
              <a:rPr lang="en-US" dirty="0"/>
              <a:t>  -Groundwater Transport (GWT)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The next major iteration of MODFLOW. Allows for coupling hydrologic models. Not commonly used in the southwest.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27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539086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MODFLOW 6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EDD00-9603-4122-B4E9-61CD2B3ED9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48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7467AEA-9672-FC7B-3EFC-0875B077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7FC7A0D1-5C6B-C017-D70B-CB23B420B53A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VERSIONS</a:t>
            </a:r>
          </a:p>
        </p:txBody>
      </p:sp>
      <p:pic>
        <p:nvPicPr>
          <p:cNvPr id="11" name="Picture 10" descr="A pie chart with different colored sections&#10;&#10;AI-generated content may be incorrect.">
            <a:extLst>
              <a:ext uri="{FF2B5EF4-FFF2-40B4-BE49-F238E27FC236}">
                <a16:creationId xmlns:a16="http://schemas.microsoft.com/office/drawing/2014/main" id="{5531A01D-D76D-9D03-61EC-C5CD07809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75" y="989556"/>
            <a:ext cx="7055451" cy="42436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56DA1C-0ABE-D505-E8EF-0A17D85BCB1D}"/>
              </a:ext>
            </a:extLst>
          </p:cNvPr>
          <p:cNvSpPr txBox="1"/>
          <p:nvPr/>
        </p:nvSpPr>
        <p:spPr>
          <a:xfrm>
            <a:off x="2768252" y="5404981"/>
            <a:ext cx="36074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22222"/>
                </a:solidFill>
                <a:latin typeface="Arial" panose="020B0604020202020204" pitchFamily="34" charset="0"/>
              </a:rPr>
              <a:t>MODFLOW-USG: 57%</a:t>
            </a:r>
          </a:p>
          <a:p>
            <a:pPr>
              <a:buNone/>
            </a:pP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MODFLOW 2005 &amp; NWT: 30%</a:t>
            </a:r>
          </a:p>
          <a:p>
            <a:pPr>
              <a:buNone/>
            </a:pP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MODFLOW-6: 10%</a:t>
            </a:r>
          </a:p>
          <a:p>
            <a:pPr>
              <a:buNone/>
            </a:pP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Other: 3%</a:t>
            </a:r>
          </a:p>
        </p:txBody>
      </p:sp>
    </p:spTree>
    <p:extLst>
      <p:ext uri="{BB962C8B-B14F-4D97-AF65-F5344CB8AC3E}">
        <p14:creationId xmlns:p14="http://schemas.microsoft.com/office/powerpoint/2010/main" val="3943184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F8C183-A077-D355-FE5D-611946E9AF7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5334" y="167523"/>
            <a:ext cx="6523151" cy="652315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3072389" cy="218368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ARIZONA </a:t>
            </a:r>
          </a:p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141">
            <a:extLst>
              <a:ext uri="{FF2B5EF4-FFF2-40B4-BE49-F238E27FC236}">
                <a16:creationId xmlns:a16="http://schemas.microsoft.com/office/drawing/2014/main" id="{077B4A23-8304-4230-8F79-86618FF77C4D}"/>
              </a:ext>
            </a:extLst>
          </p:cNvPr>
          <p:cNvSpPr txBox="1">
            <a:spLocks/>
          </p:cNvSpPr>
          <p:nvPr/>
        </p:nvSpPr>
        <p:spPr>
          <a:xfrm>
            <a:off x="880534" y="2280762"/>
            <a:ext cx="1430867" cy="229647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Developed </a:t>
            </a:r>
          </a:p>
          <a:p>
            <a:pPr algn="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Groundwater</a:t>
            </a:r>
            <a:b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Models</a:t>
            </a:r>
          </a:p>
          <a:p>
            <a:pPr algn="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</a:t>
            </a:r>
          </a:p>
          <a:p>
            <a:pPr algn="r">
              <a:buNone/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ADWR</a:t>
            </a:r>
          </a:p>
          <a:p>
            <a:pPr algn="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</a:t>
            </a:r>
          </a:p>
          <a:p>
            <a:pPr algn="ctr">
              <a:buNone/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674C41-3D6D-1BBA-8C55-284F25DB8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7844" y="3889375"/>
            <a:ext cx="763757" cy="1408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36DE27-4388-5A87-F1DB-B1EA46F46561}"/>
              </a:ext>
            </a:extLst>
          </p:cNvPr>
          <p:cNvSpPr txBox="1"/>
          <p:nvPr/>
        </p:nvSpPr>
        <p:spPr>
          <a:xfrm>
            <a:off x="6167120" y="5347614"/>
            <a:ext cx="2132959" cy="307777"/>
          </a:xfrm>
          <a:prstGeom prst="rect">
            <a:avLst/>
          </a:prstGeom>
          <a:solidFill>
            <a:srgbClr val="BFE4BF">
              <a:alpha val="20000"/>
            </a:srgbClr>
          </a:solidFill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Upper San Pedro (2024)</a:t>
            </a:r>
          </a:p>
        </p:txBody>
      </p:sp>
    </p:spTree>
    <p:extLst>
      <p:ext uri="{BB962C8B-B14F-4D97-AF65-F5344CB8AC3E}">
        <p14:creationId xmlns:p14="http://schemas.microsoft.com/office/powerpoint/2010/main" val="421266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73170-D63C-4E88-B6CE-08C10BAF5D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573"/>
          <a:stretch/>
        </p:blipFill>
        <p:spPr>
          <a:xfrm>
            <a:off x="393653" y="945715"/>
            <a:ext cx="6680917" cy="5515494"/>
          </a:xfrm>
          <a:prstGeom prst="rect">
            <a:avLst/>
          </a:prstGeom>
        </p:spPr>
      </p:pic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23609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30</a:t>
            </a:fld>
            <a:endParaRPr lang="e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ARIZONA MODELS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9E68C37-7B41-43F5-B5E1-E700762907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560" t="274" r="5868" b="75283"/>
          <a:stretch/>
        </p:blipFill>
        <p:spPr>
          <a:xfrm>
            <a:off x="4497887" y="4527783"/>
            <a:ext cx="3409951" cy="171997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8E1313B-6C11-438F-ACED-7339DB081BAE}"/>
              </a:ext>
            </a:extLst>
          </p:cNvPr>
          <p:cNvSpPr/>
          <p:nvPr/>
        </p:nvSpPr>
        <p:spPr>
          <a:xfrm>
            <a:off x="5440656" y="829198"/>
            <a:ext cx="3208917" cy="1690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41" name="Shape 141">
            <a:extLst>
              <a:ext uri="{FF2B5EF4-FFF2-40B4-BE49-F238E27FC236}">
                <a16:creationId xmlns:a16="http://schemas.microsoft.com/office/drawing/2014/main" id="{0A9BF728-07A1-4BAC-A31A-86D9096189AB}"/>
              </a:ext>
            </a:extLst>
          </p:cNvPr>
          <p:cNvSpPr txBox="1">
            <a:spLocks/>
          </p:cNvSpPr>
          <p:nvPr/>
        </p:nvSpPr>
        <p:spPr>
          <a:xfrm>
            <a:off x="5687533" y="1311242"/>
            <a:ext cx="3208917" cy="208538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Northern Arizona Groundwater Flow Model – NARGFM </a:t>
            </a:r>
            <a:b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 RGRLGFM</a:t>
            </a:r>
            <a:endParaRPr lang="en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Shape 143">
            <a:extLst>
              <a:ext uri="{FF2B5EF4-FFF2-40B4-BE49-F238E27FC236}">
                <a16:creationId xmlns:a16="http://schemas.microsoft.com/office/drawing/2014/main" id="{AADD52B4-DB66-4326-A2DF-E2D937ED8F47}"/>
              </a:ext>
            </a:extLst>
          </p:cNvPr>
          <p:cNvSpPr txBox="1">
            <a:spLocks/>
          </p:cNvSpPr>
          <p:nvPr/>
        </p:nvSpPr>
        <p:spPr>
          <a:xfrm>
            <a:off x="6047133" y="3396623"/>
            <a:ext cx="2884189" cy="95630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Coconino Plateau Water Advisory Council and Watershed Partnership</a:t>
            </a:r>
          </a:p>
        </p:txBody>
      </p:sp>
      <p:sp>
        <p:nvSpPr>
          <p:cNvPr id="45" name="Shape 143">
            <a:extLst>
              <a:ext uri="{FF2B5EF4-FFF2-40B4-BE49-F238E27FC236}">
                <a16:creationId xmlns:a16="http://schemas.microsoft.com/office/drawing/2014/main" id="{BE3A43E2-9774-4ED2-A1A3-8B7B0231A86D}"/>
              </a:ext>
            </a:extLst>
          </p:cNvPr>
          <p:cNvSpPr txBox="1">
            <a:spLocks/>
          </p:cNvSpPr>
          <p:nvPr/>
        </p:nvSpPr>
        <p:spPr>
          <a:xfrm>
            <a:off x="393654" y="6465924"/>
            <a:ext cx="8283622" cy="525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https://cpwac.org/wp-content/uploads/2023/05/RGRL-Groundwater-Flow-Model.pdf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BEA4F9C-5C09-455B-B70B-5CA52D9630B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12425" y="5702016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81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ure - refer to figure caption for alternative text description">
            <a:extLst>
              <a:ext uri="{FF2B5EF4-FFF2-40B4-BE49-F238E27FC236}">
                <a16:creationId xmlns:a16="http://schemas.microsoft.com/office/drawing/2014/main" id="{05447DB0-496E-4DB9-B9D0-FD25DCF10E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4059" y="1236632"/>
            <a:ext cx="5769870" cy="434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igure - refer to figure caption for alternative text description">
            <a:extLst>
              <a:ext uri="{FF2B5EF4-FFF2-40B4-BE49-F238E27FC236}">
                <a16:creationId xmlns:a16="http://schemas.microsoft.com/office/drawing/2014/main" id="{17E58FE0-A57B-469C-9D7E-3E788E42C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92118" y="3941195"/>
            <a:ext cx="5074848" cy="223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31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OTHER MODELS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1378425" y="666983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Central Valley - CVHM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23834B-FE15-4E06-AB43-A802AB49DAE1}"/>
              </a:ext>
            </a:extLst>
          </p:cNvPr>
          <p:cNvSpPr/>
          <p:nvPr/>
        </p:nvSpPr>
        <p:spPr>
          <a:xfrm>
            <a:off x="8083451" y="5913491"/>
            <a:ext cx="677726" cy="41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15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C1FDD8-9AE9-45D7-AEC2-25C9F591E51F}"/>
              </a:ext>
            </a:extLst>
          </p:cNvPr>
          <p:cNvSpPr/>
          <p:nvPr/>
        </p:nvSpPr>
        <p:spPr>
          <a:xfrm>
            <a:off x="0" y="5434944"/>
            <a:ext cx="3534774" cy="1407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E8BC7-2106-4154-85E5-DF80103304F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96"/>
          <a:stretch/>
        </p:blipFill>
        <p:spPr>
          <a:xfrm>
            <a:off x="54864" y="1485850"/>
            <a:ext cx="9052558" cy="47753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863E16-6719-4307-A1F7-B4BA6236068B}"/>
              </a:ext>
            </a:extLst>
          </p:cNvPr>
          <p:cNvSpPr/>
          <p:nvPr/>
        </p:nvSpPr>
        <p:spPr>
          <a:xfrm>
            <a:off x="54864" y="1485850"/>
            <a:ext cx="9052558" cy="476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637AD5-7919-4A2D-A030-7C049DA3CE3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0" r="400"/>
          <a:stretch/>
        </p:blipFill>
        <p:spPr>
          <a:xfrm>
            <a:off x="54864" y="1473150"/>
            <a:ext cx="9052558" cy="4788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OTHER MODELS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1378425" y="795319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Central Valley - CVHM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65CAE-BE54-43FE-9A69-F1A6A938BECB}"/>
              </a:ext>
            </a:extLst>
          </p:cNvPr>
          <p:cNvSpPr txBox="1"/>
          <p:nvPr/>
        </p:nvSpPr>
        <p:spPr>
          <a:xfrm>
            <a:off x="613470" y="5908481"/>
            <a:ext cx="3748980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FAFD7"/>
            </a:solidFill>
          </a:ln>
        </p:spPr>
        <p:txBody>
          <a:bodyPr wrap="square" lIns="27432" rIns="27432" rtlCol="0">
            <a:spAutoFit/>
          </a:bodyPr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Groundwater modeling in the Central Valley of California has calculated high rates of  subsidence due to groundwater pumping.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FC2DC-B0F6-409D-B509-CF72899C95ED}"/>
              </a:ext>
            </a:extLst>
          </p:cNvPr>
          <p:cNvSpPr txBox="1"/>
          <p:nvPr/>
        </p:nvSpPr>
        <p:spPr>
          <a:xfrm>
            <a:off x="1344960" y="4928166"/>
            <a:ext cx="228600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FAFD7"/>
            </a:solidFill>
          </a:ln>
        </p:spPr>
        <p:txBody>
          <a:bodyPr wrap="square" lIns="27432" rIns="27432" rtlCol="0">
            <a:spAutoFit/>
          </a:bodyPr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~ 4 m of subsidence in 1980</a:t>
            </a:r>
          </a:p>
        </p:txBody>
      </p:sp>
    </p:spTree>
    <p:extLst>
      <p:ext uri="{BB962C8B-B14F-4D97-AF65-F5344CB8AC3E}">
        <p14:creationId xmlns:p14="http://schemas.microsoft.com/office/powerpoint/2010/main" val="2343148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C1FDD8-9AE9-45D7-AEC2-25C9F591E51F}"/>
              </a:ext>
            </a:extLst>
          </p:cNvPr>
          <p:cNvSpPr/>
          <p:nvPr/>
        </p:nvSpPr>
        <p:spPr>
          <a:xfrm>
            <a:off x="0" y="5434944"/>
            <a:ext cx="3534774" cy="1407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E8BC7-2106-4154-85E5-DF80103304F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96"/>
          <a:stretch/>
        </p:blipFill>
        <p:spPr>
          <a:xfrm>
            <a:off x="54864" y="1485850"/>
            <a:ext cx="9052558" cy="47753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OTHER MODELS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1378425" y="795319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Central Valley - CVHM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65CAE-BE54-43FE-9A69-F1A6A938BECB}"/>
              </a:ext>
            </a:extLst>
          </p:cNvPr>
          <p:cNvSpPr txBox="1"/>
          <p:nvPr/>
        </p:nvSpPr>
        <p:spPr>
          <a:xfrm>
            <a:off x="613470" y="5908481"/>
            <a:ext cx="3748980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FAFD7"/>
            </a:solidFill>
          </a:ln>
        </p:spPr>
        <p:txBody>
          <a:bodyPr wrap="square" lIns="27432" rIns="27432" rtlCol="0">
            <a:spAutoFit/>
          </a:bodyPr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Groundwater modeling in the Central Valley of California has calculated high rates of  subsidence due to groundwater pumping.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FC2DC-B0F6-409D-B509-CF72899C95ED}"/>
              </a:ext>
            </a:extLst>
          </p:cNvPr>
          <p:cNvSpPr txBox="1"/>
          <p:nvPr/>
        </p:nvSpPr>
        <p:spPr>
          <a:xfrm>
            <a:off x="1344960" y="4928166"/>
            <a:ext cx="228600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5FAFD7"/>
            </a:solidFill>
          </a:ln>
        </p:spPr>
        <p:txBody>
          <a:bodyPr wrap="square" lIns="27432" rIns="27432" rtlCol="0">
            <a:spAutoFit/>
          </a:bodyPr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Segoe UI" panose="020B0502040204020203" pitchFamily="34" charset="0"/>
              </a:rPr>
              <a:t>~ 9 m of subsidence in 2003</a:t>
            </a:r>
          </a:p>
        </p:txBody>
      </p:sp>
    </p:spTree>
    <p:extLst>
      <p:ext uri="{BB962C8B-B14F-4D97-AF65-F5344CB8AC3E}">
        <p14:creationId xmlns:p14="http://schemas.microsoft.com/office/powerpoint/2010/main" val="1736337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62B21CA-CD76-73B9-F2E3-7C627EE5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CCDE3807-4607-09BD-571D-0AE1E2116FBF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OTHER MODELS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70592020-2A21-0E49-171B-E16C3A2D9B44}"/>
              </a:ext>
            </a:extLst>
          </p:cNvPr>
          <p:cNvSpPr txBox="1">
            <a:spLocks/>
          </p:cNvSpPr>
          <p:nvPr/>
        </p:nvSpPr>
        <p:spPr>
          <a:xfrm>
            <a:off x="4292600" y="230565"/>
            <a:ext cx="4447402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Central Valley - CVHM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8B12DB-4288-C162-B29D-B215DDDF31C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36805" y="699825"/>
            <a:ext cx="6675120" cy="31903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308AA9B-FFDE-24DC-B47A-59422A8B4419}"/>
              </a:ext>
            </a:extLst>
          </p:cNvPr>
          <p:cNvSpPr/>
          <p:nvPr/>
        </p:nvSpPr>
        <p:spPr>
          <a:xfrm>
            <a:off x="2183384" y="786095"/>
            <a:ext cx="393337" cy="313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68000-C9E2-1698-17C3-F7B1DD640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936" y="4007463"/>
            <a:ext cx="6492240" cy="2643226"/>
          </a:xfrm>
          <a:prstGeom prst="rect">
            <a:avLst/>
          </a:prstGeom>
        </p:spPr>
      </p:pic>
      <p:sp>
        <p:nvSpPr>
          <p:cNvPr id="11" name="Shape 141">
            <a:extLst>
              <a:ext uri="{FF2B5EF4-FFF2-40B4-BE49-F238E27FC236}">
                <a16:creationId xmlns:a16="http://schemas.microsoft.com/office/drawing/2014/main" id="{407C00DB-669C-A7AD-8BAB-E05418BC8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509" y="1006225"/>
            <a:ext cx="2255543" cy="2541305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dirty="0"/>
              <a:t>Storage loss and subsidence can be modeled in detail with MODFLOW One Water. Allows for more complex scenario analyses.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BE2C6-4838-C74A-BCF0-51C35D91ECA0}"/>
              </a:ext>
            </a:extLst>
          </p:cNvPr>
          <p:cNvSpPr/>
          <p:nvPr/>
        </p:nvSpPr>
        <p:spPr>
          <a:xfrm>
            <a:off x="2165982" y="3891245"/>
            <a:ext cx="419206" cy="333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E5063A-5FA4-7673-1316-2825C5DD180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348"/>
          <a:stretch>
            <a:fillRect/>
          </a:stretch>
        </p:blipFill>
        <p:spPr>
          <a:xfrm>
            <a:off x="3007135" y="3071470"/>
            <a:ext cx="4792133" cy="2404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Shape 141">
            <a:extLst>
              <a:ext uri="{FF2B5EF4-FFF2-40B4-BE49-F238E27FC236}">
                <a16:creationId xmlns:a16="http://schemas.microsoft.com/office/drawing/2014/main" id="{EDD90838-A192-AF71-0C4F-A5462BFDD6A7}"/>
              </a:ext>
            </a:extLst>
          </p:cNvPr>
          <p:cNvSpPr txBox="1">
            <a:spLocks/>
          </p:cNvSpPr>
          <p:nvPr/>
        </p:nvSpPr>
        <p:spPr>
          <a:xfrm>
            <a:off x="99061" y="5295817"/>
            <a:ext cx="2293458" cy="107480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>
              <a:buNone/>
            </a:pPr>
            <a:r>
              <a:rPr lang="en-US" sz="1400" dirty="0"/>
              <a:t>Faunt, et Al. (2024). Groundwater Sustainability and Land Subsidence in California’s Central Valley.</a:t>
            </a:r>
          </a:p>
        </p:txBody>
      </p:sp>
    </p:spTree>
    <p:extLst>
      <p:ext uri="{BB962C8B-B14F-4D97-AF65-F5344CB8AC3E}">
        <p14:creationId xmlns:p14="http://schemas.microsoft.com/office/powerpoint/2010/main" val="3620451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610955"/>
            <a:ext cx="6209731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DOS Execution (Windows CMD) 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The simplest way to run MODFLOW.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Running MODFLOW With a GUI</a:t>
            </a:r>
            <a:endParaRPr lang="en" b="1" dirty="0"/>
          </a:p>
          <a:p>
            <a:pPr lvl="0">
              <a:buNone/>
            </a:pPr>
            <a:r>
              <a:rPr lang="en-US" dirty="0"/>
              <a:t>Graphical User Interfaces often have a model execution option with on-screen progress reporting. Can be very helpful but take time to learn.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MODFLOW in Linux / Unix</a:t>
            </a:r>
            <a:endParaRPr lang="en" b="1" dirty="0"/>
          </a:p>
          <a:p>
            <a:pPr lvl="0">
              <a:buNone/>
            </a:pPr>
            <a:r>
              <a:rPr lang="en-US" dirty="0"/>
              <a:t>The source code for most versions of MODFLOW is publicly available. The OS can be changed during compiling.</a:t>
            </a:r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35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Running MODFLOW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38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86F693B-B244-A5F5-3B74-3C02D609F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C4E082D7-2021-9D27-4173-A7FF09B29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0502" y="1610955"/>
            <a:ext cx="6782432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Groundwater Vistas 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The common GUI for MODFLOW for many years. Known for good feature support and technical support. Recent updates extend 3D capabilities.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Visual MODFLOW</a:t>
            </a:r>
            <a:endParaRPr lang="en" b="1" dirty="0"/>
          </a:p>
          <a:p>
            <a:pPr lvl="0">
              <a:buNone/>
            </a:pPr>
            <a:r>
              <a:rPr lang="en-US" dirty="0"/>
              <a:t>Strong conceptual modeling environment. Has great integration of calibration software PEST.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GMS</a:t>
            </a:r>
            <a:endParaRPr lang="en" b="1" dirty="0"/>
          </a:p>
          <a:p>
            <a:pPr lvl="0">
              <a:buNone/>
            </a:pPr>
            <a:r>
              <a:rPr lang="en-US" dirty="0"/>
              <a:t>Provides a GIS based workflow and conceptual model framework. Advanced capabilities for visualization and meshing.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 err="1"/>
              <a:t>MikeSHE</a:t>
            </a:r>
            <a:endParaRPr lang="en" b="1" dirty="0"/>
          </a:p>
          <a:p>
            <a:pPr lvl="0">
              <a:buNone/>
            </a:pPr>
            <a:r>
              <a:rPr lang="en-US" dirty="0"/>
              <a:t>Coupled model framework that makes integrated modeling more accessible. Recharge modules purchased separately.</a:t>
            </a:r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19C7368E-551B-01BB-4245-19748B06FA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36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2F28568-84D3-BFF2-E564-1CCC14015AFA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0795571B-196E-B47C-BD69-7C4D6C13F24A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 Options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DF6BBF-D785-95B2-1593-E562FC87B3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06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610955"/>
            <a:ext cx="6209731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Name File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The file that stores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the filenames and 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Fortran unit numbers 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for input files read 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by MODFLOW and 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output files created </a:t>
            </a:r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by MODFLOW.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37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Primary Control File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8C444E-D063-4A2B-B560-4F325FE00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366" y="2110233"/>
            <a:ext cx="3199022" cy="35764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0927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610955"/>
            <a:ext cx="6663899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b="1" dirty="0"/>
              <a:t>Upstream Spatial Weighting (.UPW) Package</a:t>
            </a:r>
            <a:endParaRPr lang="en" b="1" dirty="0"/>
          </a:p>
          <a:p>
            <a:pPr lvl="0">
              <a:spcBef>
                <a:spcPts val="0"/>
              </a:spcBef>
              <a:buNone/>
            </a:pPr>
            <a:r>
              <a:rPr lang="en-US" dirty="0"/>
              <a:t>The package that defines the Hydraulic Properties of the modeled cells (Kx, Ky, </a:t>
            </a:r>
            <a:r>
              <a:rPr lang="en-US" dirty="0" err="1"/>
              <a:t>Kz</a:t>
            </a:r>
            <a:r>
              <a:rPr lang="en-US" dirty="0"/>
              <a:t>, SS, SY). Some versions of MODFLOW use the LPF or BCF Packages.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Basic Package (.BAS)</a:t>
            </a:r>
            <a:endParaRPr lang="en" b="1" dirty="0"/>
          </a:p>
          <a:p>
            <a:pPr lvl="0">
              <a:buNone/>
            </a:pPr>
            <a:r>
              <a:rPr lang="en-US" dirty="0"/>
              <a:t>Package defining the active model grid cells and the initial head conditions.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Model Discretization (.DIS)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The package that defines the geometry of the model.  </a:t>
            </a:r>
          </a:p>
          <a:p>
            <a:pPr lvl="0">
              <a:buNone/>
            </a:pPr>
            <a:r>
              <a:rPr lang="en-US" dirty="0"/>
              <a:t>  -Section 1: Horizontal Discretization</a:t>
            </a:r>
          </a:p>
          <a:p>
            <a:pPr lvl="0">
              <a:buNone/>
            </a:pPr>
            <a:r>
              <a:rPr lang="en-US" dirty="0"/>
              <a:t>  -Section 2: Vertical Discretization</a:t>
            </a:r>
          </a:p>
          <a:p>
            <a:pPr lvl="0">
              <a:buNone/>
            </a:pPr>
            <a:r>
              <a:rPr lang="en-US" dirty="0"/>
              <a:t>  -Section 3: Temporal Discretization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38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96717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Input Files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79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2" y="1460827"/>
            <a:ext cx="6989314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Well (.WEL) or Multi-Node Well (.MNW)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Packages to model the process of pumping or recharging water through a groundwater well.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Stream (.STR) or Streamflow Routing (.SFR)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Packages that model the process of streamflow and groundwater interaction with streams (both in and out). 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Recharge (.RCH)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A package designed to add water recharged to the surface to the uppermost groundwater layer, does not have internal lagging.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Lake (.LAK)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Simulates reservoirs as lakes that can rise and fall due to groundwater and stream interactions.</a:t>
            </a:r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39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885282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Stress Files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40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0" y="1460827"/>
            <a:ext cx="6926367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Constant Head (.CHD)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Package designed to model boundary fluxes. The constant head package defines the head at boundary cells.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Global Head (.GHB)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Packages designed to model boundary fluxes. The global head package defines the head at a distance from the boundary location.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Evapotranspiration (.ET or .EVT)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A package designed to extract water from the groundwater system to simulate ET.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Drain (.DRN)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A MODFLOW package designed to simulate agricultural drains and ditches.</a:t>
            </a:r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40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885282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Stress Files (cont.)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577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460827"/>
            <a:ext cx="6989314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Head Observations (.HOB)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Allows for the extraction of modeled data at point locations in space and time. Built for comparing field head observations to model results.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Hydrograph Observations (.HYD)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A package that lets the user choose locations to extract modeled head data for every model timestep. 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Gage (.GAGE) Package</a:t>
            </a:r>
            <a:endParaRPr lang="en" b="1" dirty="0"/>
          </a:p>
          <a:p>
            <a:pPr lvl="0">
              <a:buNone/>
            </a:pPr>
            <a:r>
              <a:rPr lang="en-US" dirty="0"/>
              <a:t>A package that lets the user extract streamflow modeled results specific times, to compare with observation data.</a:t>
            </a:r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41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885282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Observation Files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57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236702"/>
            <a:ext cx="6989314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List (.LST or .LIST) Output</a:t>
            </a:r>
            <a:endParaRPr lang="en" b="1" dirty="0"/>
          </a:p>
          <a:p>
            <a:pPr lvl="0">
              <a:buNone/>
            </a:pPr>
            <a:r>
              <a:rPr lang="en-US" dirty="0"/>
              <a:t>Run results log file. This file documents the reading of input files, shows model solver results and budget summaries.  The best way to troubleshoot a program.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Heads (.HDS) Output</a:t>
            </a:r>
            <a:endParaRPr lang="en" b="1" dirty="0"/>
          </a:p>
          <a:p>
            <a:pPr lvl="0">
              <a:buNone/>
            </a:pPr>
            <a:r>
              <a:rPr lang="en-US" dirty="0"/>
              <a:t>The output file containing cell specific head data by layer for specified times.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Budget Output</a:t>
            </a:r>
            <a:endParaRPr lang="en" b="1" dirty="0"/>
          </a:p>
          <a:p>
            <a:pPr lvl="0">
              <a:buNone/>
            </a:pPr>
            <a:r>
              <a:rPr lang="en-US" dirty="0"/>
              <a:t>Calculated volumetric outflow/inflow rate between two connected cells output to a binary file. Also known as the cell-by-cell budget.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Observation File Outputs</a:t>
            </a:r>
            <a:endParaRPr lang="en" b="1" dirty="0"/>
          </a:p>
          <a:p>
            <a:pPr lvl="0">
              <a:buNone/>
            </a:pPr>
            <a:r>
              <a:rPr lang="en-US" dirty="0"/>
              <a:t>HOB, HYD and GAGE packages each make output files.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42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MODFLOW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750807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Files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511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44658D48-582D-98D2-3B98-055590F0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>
            <a:extLst>
              <a:ext uri="{FF2B5EF4-FFF2-40B4-BE49-F238E27FC236}">
                <a16:creationId xmlns:a16="http://schemas.microsoft.com/office/drawing/2014/main" id="{C6A9B48C-B6C0-7822-DB91-8AD958A2D7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105452"/>
            <a:ext cx="7571700" cy="146124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 sz="3600" b="1" dirty="0">
                <a:solidFill>
                  <a:srgbClr val="3499CD"/>
                </a:solidFill>
              </a:rPr>
              <a:t>SECTION 2</a:t>
            </a:r>
            <a:endParaRPr lang="en" sz="2400" b="1" dirty="0">
              <a:solidFill>
                <a:srgbClr val="3499CD"/>
              </a:solidFill>
            </a:endParaRPr>
          </a:p>
        </p:txBody>
      </p:sp>
      <p:sp>
        <p:nvSpPr>
          <p:cNvPr id="134" name="Shape 134">
            <a:extLst>
              <a:ext uri="{FF2B5EF4-FFF2-40B4-BE49-F238E27FC236}">
                <a16:creationId xmlns:a16="http://schemas.microsoft.com/office/drawing/2014/main" id="{56C1BC80-78C1-E52F-96DD-525E7B38A30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868967" y="1426634"/>
            <a:ext cx="5406067" cy="4004733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200" b="1" dirty="0"/>
              <a:t>MODFLOW Examples</a:t>
            </a:r>
            <a:endParaRPr lang="en" sz="3200" dirty="0"/>
          </a:p>
          <a:p>
            <a:pPr lvl="0">
              <a:spcBef>
                <a:spcPts val="0"/>
              </a:spcBef>
              <a:buNone/>
            </a:pPr>
            <a:r>
              <a:rPr lang="en" sz="3200" dirty="0"/>
              <a:t> -</a:t>
            </a:r>
            <a:r>
              <a:rPr lang="en-US" sz="3200" dirty="0"/>
              <a:t>Example1: Coarse Grid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-Example2: More Cells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-Example3: More Time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-Example4: USG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-Example5: Phoenix AMA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-Example6: One Water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-Example7: MODFLOW 6</a:t>
            </a:r>
          </a:p>
        </p:txBody>
      </p:sp>
      <p:sp>
        <p:nvSpPr>
          <p:cNvPr id="135" name="Shape 135">
            <a:extLst>
              <a:ext uri="{FF2B5EF4-FFF2-40B4-BE49-F238E27FC236}">
                <a16:creationId xmlns:a16="http://schemas.microsoft.com/office/drawing/2014/main" id="{ABF4913C-EF26-0700-20BA-090B8F188C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43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989153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4D98C3D-28A1-81B4-0E6D-E3F93809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>
            <a:extLst>
              <a:ext uri="{FF2B5EF4-FFF2-40B4-BE49-F238E27FC236}">
                <a16:creationId xmlns:a16="http://schemas.microsoft.com/office/drawing/2014/main" id="{E188D703-B731-451C-A18C-E7ABC9174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105452"/>
            <a:ext cx="7571700" cy="146124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 sz="3600" b="1" dirty="0">
                <a:solidFill>
                  <a:srgbClr val="3499CD"/>
                </a:solidFill>
              </a:rPr>
              <a:t>SECTION 3</a:t>
            </a:r>
            <a:endParaRPr lang="en" sz="2400" b="1" dirty="0">
              <a:solidFill>
                <a:srgbClr val="3499CD"/>
              </a:solidFill>
            </a:endParaRPr>
          </a:p>
        </p:txBody>
      </p:sp>
      <p:sp>
        <p:nvSpPr>
          <p:cNvPr id="134" name="Shape 134">
            <a:extLst>
              <a:ext uri="{FF2B5EF4-FFF2-40B4-BE49-F238E27FC236}">
                <a16:creationId xmlns:a16="http://schemas.microsoft.com/office/drawing/2014/main" id="{F2BD91C6-FAF2-63EA-5E1B-5CB5253E0E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868967" y="1426634"/>
            <a:ext cx="6038900" cy="4004733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200" b="1" dirty="0"/>
              <a:t>Data Extraction Methods</a:t>
            </a:r>
            <a:endParaRPr lang="en" sz="3200" dirty="0"/>
          </a:p>
          <a:p>
            <a:pPr lvl="0">
              <a:spcBef>
                <a:spcPts val="0"/>
              </a:spcBef>
              <a:buNone/>
            </a:pPr>
            <a:r>
              <a:rPr lang="en" sz="3200" dirty="0"/>
              <a:t> -</a:t>
            </a:r>
            <a:r>
              <a:rPr lang="en-US" sz="3200" dirty="0"/>
              <a:t>Extracting from List file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-Extracting from Heads file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-Extracting from Budget file</a:t>
            </a:r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</a:t>
            </a:r>
            <a:r>
              <a:rPr lang="en-US" sz="3200" dirty="0" err="1"/>
              <a:t>Flopy</a:t>
            </a:r>
            <a:endParaRPr lang="en-US" sz="3200" dirty="0"/>
          </a:p>
          <a:p>
            <a:pPr lvl="0">
              <a:spcBef>
                <a:spcPts val="0"/>
              </a:spcBef>
              <a:buNone/>
            </a:pPr>
            <a:r>
              <a:rPr lang="en-US" sz="3200" dirty="0"/>
              <a:t> -Connecting data to maps</a:t>
            </a:r>
          </a:p>
        </p:txBody>
      </p:sp>
      <p:sp>
        <p:nvSpPr>
          <p:cNvPr id="135" name="Shape 135">
            <a:extLst>
              <a:ext uri="{FF2B5EF4-FFF2-40B4-BE49-F238E27FC236}">
                <a16:creationId xmlns:a16="http://schemas.microsoft.com/office/drawing/2014/main" id="{FF3D2C0A-E0F6-4806-C158-BBD4B110B4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44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8103380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68CE4E9-66ED-D70B-5AFD-270F2A54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8844E7-1B9B-CF1F-3E78-2E19FB5F3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353" y="1313381"/>
            <a:ext cx="4764931" cy="2386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12106B-0D3C-F004-D6E0-5E23E11E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971" y="3269446"/>
            <a:ext cx="1346199" cy="11374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41" name="Shape 141">
            <a:extLst>
              <a:ext uri="{FF2B5EF4-FFF2-40B4-BE49-F238E27FC236}">
                <a16:creationId xmlns:a16="http://schemas.microsoft.com/office/drawing/2014/main" id="{7B2904A8-229A-BE09-098E-CE6C718E4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9500" y="1278042"/>
            <a:ext cx="3802165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Particle Trace Analysis</a:t>
            </a:r>
            <a:endParaRPr lang="en" b="1" dirty="0"/>
          </a:p>
          <a:p>
            <a:pPr lvl="0">
              <a:buNone/>
            </a:pPr>
            <a:r>
              <a:rPr lang="en-US" dirty="0"/>
              <a:t>The modeling of a theoretical chemical particle emplaced into the model and simulated. Can be run forward or backward with ease.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Contaminant Transport and Groundwater Models</a:t>
            </a:r>
            <a:endParaRPr lang="en" b="1" dirty="0"/>
          </a:p>
          <a:p>
            <a:pPr lvl="0">
              <a:buNone/>
            </a:pPr>
            <a:r>
              <a:rPr lang="en-US" dirty="0"/>
              <a:t>Geochemical species modeled as it is driven by water movement in the groundwater system. Reaction chemistry and multi-species interactions are not often modeled.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DC049BD-87B6-5F24-AC7B-1EC8A92BD3EA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Particles and Transport 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A01628B5-0C2F-41AA-A6DF-CE07FB0D8F9E}"/>
              </a:ext>
            </a:extLst>
          </p:cNvPr>
          <p:cNvSpPr txBox="1">
            <a:spLocks/>
          </p:cNvSpPr>
          <p:nvPr/>
        </p:nvSpPr>
        <p:spPr>
          <a:xfrm>
            <a:off x="222027" y="712958"/>
            <a:ext cx="4553173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Simulation of Chemistry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hape 141">
            <a:extLst>
              <a:ext uri="{FF2B5EF4-FFF2-40B4-BE49-F238E27FC236}">
                <a16:creationId xmlns:a16="http://schemas.microsoft.com/office/drawing/2014/main" id="{4108924F-0BF6-EC7D-5BA7-7624F878D349}"/>
              </a:ext>
            </a:extLst>
          </p:cNvPr>
          <p:cNvSpPr txBox="1">
            <a:spLocks/>
          </p:cNvSpPr>
          <p:nvPr/>
        </p:nvSpPr>
        <p:spPr>
          <a:xfrm>
            <a:off x="5789502" y="884378"/>
            <a:ext cx="1524633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b="1" dirty="0"/>
              <a:t>MODPATH</a:t>
            </a:r>
            <a:endParaRPr lang="en-US" dirty="0"/>
          </a:p>
        </p:txBody>
      </p:sp>
      <p:sp>
        <p:nvSpPr>
          <p:cNvPr id="14" name="Shape 141">
            <a:extLst>
              <a:ext uri="{FF2B5EF4-FFF2-40B4-BE49-F238E27FC236}">
                <a16:creationId xmlns:a16="http://schemas.microsoft.com/office/drawing/2014/main" id="{47360B5C-5CD5-CD6B-DBF6-550DD3F52408}"/>
              </a:ext>
            </a:extLst>
          </p:cNvPr>
          <p:cNvSpPr txBox="1">
            <a:spLocks/>
          </p:cNvSpPr>
          <p:nvPr/>
        </p:nvSpPr>
        <p:spPr>
          <a:xfrm>
            <a:off x="6253606" y="4231517"/>
            <a:ext cx="1095458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b="1" dirty="0"/>
              <a:t>MT3D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2C1B73-3391-048A-B77E-35E93DAD2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325" y="4631163"/>
            <a:ext cx="4948761" cy="17741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1" name="Shape 141">
            <a:extLst>
              <a:ext uri="{FF2B5EF4-FFF2-40B4-BE49-F238E27FC236}">
                <a16:creationId xmlns:a16="http://schemas.microsoft.com/office/drawing/2014/main" id="{5464442F-EA35-6A50-C7CD-A0334D353845}"/>
              </a:ext>
            </a:extLst>
          </p:cNvPr>
          <p:cNvSpPr txBox="1">
            <a:spLocks/>
          </p:cNvSpPr>
          <p:nvPr/>
        </p:nvSpPr>
        <p:spPr>
          <a:xfrm>
            <a:off x="2667481" y="6425603"/>
            <a:ext cx="6759304" cy="110358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None/>
            </a:pPr>
            <a:r>
              <a:rPr lang="en-US" sz="1200" dirty="0"/>
              <a:t>https://www.usgs.gov/software/mt3d-usgs-groundwater-solute-transport-simulator-modflow</a:t>
            </a:r>
          </a:p>
        </p:txBody>
      </p:sp>
      <p:sp>
        <p:nvSpPr>
          <p:cNvPr id="22" name="Shape 141">
            <a:extLst>
              <a:ext uri="{FF2B5EF4-FFF2-40B4-BE49-F238E27FC236}">
                <a16:creationId xmlns:a16="http://schemas.microsoft.com/office/drawing/2014/main" id="{D1AE11FE-4C38-E1C5-E1B1-7455B5E9BEF7}"/>
              </a:ext>
            </a:extLst>
          </p:cNvPr>
          <p:cNvSpPr txBox="1">
            <a:spLocks/>
          </p:cNvSpPr>
          <p:nvPr/>
        </p:nvSpPr>
        <p:spPr>
          <a:xfrm>
            <a:off x="5554632" y="3699934"/>
            <a:ext cx="3488090" cy="4851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None/>
            </a:pPr>
            <a:r>
              <a:rPr lang="en-US" sz="1200" dirty="0"/>
              <a:t>https://pubs.usgs.gov/publication/ofr20161086</a:t>
            </a:r>
          </a:p>
        </p:txBody>
      </p:sp>
    </p:spTree>
    <p:extLst>
      <p:ext uri="{BB962C8B-B14F-4D97-AF65-F5344CB8AC3E}">
        <p14:creationId xmlns:p14="http://schemas.microsoft.com/office/powerpoint/2010/main" val="11313059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2CFA7A7-A8D0-EF4A-ED94-5FD2E38E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 green and red dots on a white background&#10;&#10;Description automatically generated">
            <a:extLst>
              <a:ext uri="{FF2B5EF4-FFF2-40B4-BE49-F238E27FC236}">
                <a16:creationId xmlns:a16="http://schemas.microsoft.com/office/drawing/2014/main" id="{4BF562F0-C4C0-66D3-8C37-D239889E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005" y="1986854"/>
            <a:ext cx="4819797" cy="4018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2E44ABE-0537-AA07-56B8-CAEB4D7518CD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Particles and Transport 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F46F7245-9902-4980-DD33-A5D30FA715BF}"/>
              </a:ext>
            </a:extLst>
          </p:cNvPr>
          <p:cNvSpPr txBox="1">
            <a:spLocks/>
          </p:cNvSpPr>
          <p:nvPr/>
        </p:nvSpPr>
        <p:spPr>
          <a:xfrm>
            <a:off x="222027" y="712958"/>
            <a:ext cx="7414906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MT3D / MODFLOW-USG / MODFLOW-6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C303BD-7C07-BF56-4465-EF2C8FF88E3C}"/>
              </a:ext>
            </a:extLst>
          </p:cNvPr>
          <p:cNvGrpSpPr/>
          <p:nvPr/>
        </p:nvGrpSpPr>
        <p:grpSpPr>
          <a:xfrm>
            <a:off x="5365312" y="1440495"/>
            <a:ext cx="3610895" cy="4024080"/>
            <a:chOff x="-701040" y="2593436"/>
            <a:chExt cx="3526795" cy="393035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19B084C-5942-4967-E1C4-28DE1B16B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701040" y="2593436"/>
              <a:ext cx="3521716" cy="39252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029FC67-40AB-4912-BF65-11E78ABD86D1}"/>
                </a:ext>
              </a:extLst>
            </p:cNvPr>
            <p:cNvSpPr/>
            <p:nvPr/>
          </p:nvSpPr>
          <p:spPr>
            <a:xfrm>
              <a:off x="227904" y="2598516"/>
              <a:ext cx="2597851" cy="3925277"/>
            </a:xfrm>
            <a:custGeom>
              <a:avLst/>
              <a:gdLst>
                <a:gd name="connsiteX0" fmla="*/ 657225 w 1519238"/>
                <a:gd name="connsiteY0" fmla="*/ 247650 h 2295525"/>
                <a:gd name="connsiteX1" fmla="*/ 461963 w 1519238"/>
                <a:gd name="connsiteY1" fmla="*/ 247650 h 2295525"/>
                <a:gd name="connsiteX2" fmla="*/ 442913 w 1519238"/>
                <a:gd name="connsiteY2" fmla="*/ 319087 h 2295525"/>
                <a:gd name="connsiteX3" fmla="*/ 361950 w 1519238"/>
                <a:gd name="connsiteY3" fmla="*/ 323850 h 2295525"/>
                <a:gd name="connsiteX4" fmla="*/ 347663 w 1519238"/>
                <a:gd name="connsiteY4" fmla="*/ 438150 h 2295525"/>
                <a:gd name="connsiteX5" fmla="*/ 252413 w 1519238"/>
                <a:gd name="connsiteY5" fmla="*/ 438150 h 2295525"/>
                <a:gd name="connsiteX6" fmla="*/ 233363 w 1519238"/>
                <a:gd name="connsiteY6" fmla="*/ 542925 h 2295525"/>
                <a:gd name="connsiteX7" fmla="*/ 133350 w 1519238"/>
                <a:gd name="connsiteY7" fmla="*/ 533400 h 2295525"/>
                <a:gd name="connsiteX8" fmla="*/ 133350 w 1519238"/>
                <a:gd name="connsiteY8" fmla="*/ 652462 h 2295525"/>
                <a:gd name="connsiteX9" fmla="*/ 33338 w 1519238"/>
                <a:gd name="connsiteY9" fmla="*/ 661987 h 2295525"/>
                <a:gd name="connsiteX10" fmla="*/ 42863 w 1519238"/>
                <a:gd name="connsiteY10" fmla="*/ 752475 h 2295525"/>
                <a:gd name="connsiteX11" fmla="*/ 4763 w 1519238"/>
                <a:gd name="connsiteY11" fmla="*/ 747712 h 2295525"/>
                <a:gd name="connsiteX12" fmla="*/ 0 w 1519238"/>
                <a:gd name="connsiteY12" fmla="*/ 857250 h 2295525"/>
                <a:gd name="connsiteX13" fmla="*/ 23813 w 1519238"/>
                <a:gd name="connsiteY13" fmla="*/ 852487 h 2295525"/>
                <a:gd name="connsiteX14" fmla="*/ 23813 w 1519238"/>
                <a:gd name="connsiteY14" fmla="*/ 995362 h 2295525"/>
                <a:gd name="connsiteX15" fmla="*/ 57150 w 1519238"/>
                <a:gd name="connsiteY15" fmla="*/ 1000125 h 2295525"/>
                <a:gd name="connsiteX16" fmla="*/ 33338 w 1519238"/>
                <a:gd name="connsiteY16" fmla="*/ 1228725 h 2295525"/>
                <a:gd name="connsiteX17" fmla="*/ 80963 w 1519238"/>
                <a:gd name="connsiteY17" fmla="*/ 1228725 h 2295525"/>
                <a:gd name="connsiteX18" fmla="*/ 100013 w 1519238"/>
                <a:gd name="connsiteY18" fmla="*/ 1319212 h 2295525"/>
                <a:gd name="connsiteX19" fmla="*/ 200025 w 1519238"/>
                <a:gd name="connsiteY19" fmla="*/ 1338262 h 2295525"/>
                <a:gd name="connsiteX20" fmla="*/ 200025 w 1519238"/>
                <a:gd name="connsiteY20" fmla="*/ 1438275 h 2295525"/>
                <a:gd name="connsiteX21" fmla="*/ 309563 w 1519238"/>
                <a:gd name="connsiteY21" fmla="*/ 1438275 h 2295525"/>
                <a:gd name="connsiteX22" fmla="*/ 366713 w 1519238"/>
                <a:gd name="connsiteY22" fmla="*/ 1433512 h 2295525"/>
                <a:gd name="connsiteX23" fmla="*/ 371475 w 1519238"/>
                <a:gd name="connsiteY23" fmla="*/ 1643062 h 2295525"/>
                <a:gd name="connsiteX24" fmla="*/ 442913 w 1519238"/>
                <a:gd name="connsiteY24" fmla="*/ 1695450 h 2295525"/>
                <a:gd name="connsiteX25" fmla="*/ 471488 w 1519238"/>
                <a:gd name="connsiteY25" fmla="*/ 1600200 h 2295525"/>
                <a:gd name="connsiteX26" fmla="*/ 542925 w 1519238"/>
                <a:gd name="connsiteY26" fmla="*/ 1585912 h 2295525"/>
                <a:gd name="connsiteX27" fmla="*/ 576263 w 1519238"/>
                <a:gd name="connsiteY27" fmla="*/ 1547812 h 2295525"/>
                <a:gd name="connsiteX28" fmla="*/ 585788 w 1519238"/>
                <a:gd name="connsiteY28" fmla="*/ 1476375 h 2295525"/>
                <a:gd name="connsiteX29" fmla="*/ 619125 w 1519238"/>
                <a:gd name="connsiteY29" fmla="*/ 1514475 h 2295525"/>
                <a:gd name="connsiteX30" fmla="*/ 642938 w 1519238"/>
                <a:gd name="connsiteY30" fmla="*/ 1566862 h 2295525"/>
                <a:gd name="connsiteX31" fmla="*/ 619125 w 1519238"/>
                <a:gd name="connsiteY31" fmla="*/ 1685925 h 2295525"/>
                <a:gd name="connsiteX32" fmla="*/ 600075 w 1519238"/>
                <a:gd name="connsiteY32" fmla="*/ 1766887 h 2295525"/>
                <a:gd name="connsiteX33" fmla="*/ 581025 w 1519238"/>
                <a:gd name="connsiteY33" fmla="*/ 1804987 h 2295525"/>
                <a:gd name="connsiteX34" fmla="*/ 571500 w 1519238"/>
                <a:gd name="connsiteY34" fmla="*/ 1914525 h 2295525"/>
                <a:gd name="connsiteX35" fmla="*/ 600075 w 1519238"/>
                <a:gd name="connsiteY35" fmla="*/ 2024062 h 2295525"/>
                <a:gd name="connsiteX36" fmla="*/ 823913 w 1519238"/>
                <a:gd name="connsiteY36" fmla="*/ 2009775 h 2295525"/>
                <a:gd name="connsiteX37" fmla="*/ 985838 w 1519238"/>
                <a:gd name="connsiteY37" fmla="*/ 1890712 h 2295525"/>
                <a:gd name="connsiteX38" fmla="*/ 1233488 w 1519238"/>
                <a:gd name="connsiteY38" fmla="*/ 1957387 h 2295525"/>
                <a:gd name="connsiteX39" fmla="*/ 1066800 w 1519238"/>
                <a:gd name="connsiteY39" fmla="*/ 2019300 h 2295525"/>
                <a:gd name="connsiteX40" fmla="*/ 1223963 w 1519238"/>
                <a:gd name="connsiteY40" fmla="*/ 2266950 h 2295525"/>
                <a:gd name="connsiteX41" fmla="*/ 1509713 w 1519238"/>
                <a:gd name="connsiteY41" fmla="*/ 2295525 h 2295525"/>
                <a:gd name="connsiteX42" fmla="*/ 1519238 w 1519238"/>
                <a:gd name="connsiteY42" fmla="*/ 4762 h 2295525"/>
                <a:gd name="connsiteX43" fmla="*/ 1185863 w 1519238"/>
                <a:gd name="connsiteY43" fmla="*/ 0 h 2295525"/>
                <a:gd name="connsiteX44" fmla="*/ 1190625 w 1519238"/>
                <a:gd name="connsiteY44" fmla="*/ 233362 h 2295525"/>
                <a:gd name="connsiteX45" fmla="*/ 657225 w 1519238"/>
                <a:gd name="connsiteY45" fmla="*/ 247650 h 229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519238" h="2295525">
                  <a:moveTo>
                    <a:pt x="657225" y="247650"/>
                  </a:moveTo>
                  <a:lnTo>
                    <a:pt x="461963" y="247650"/>
                  </a:lnTo>
                  <a:lnTo>
                    <a:pt x="442913" y="319087"/>
                  </a:lnTo>
                  <a:lnTo>
                    <a:pt x="361950" y="323850"/>
                  </a:lnTo>
                  <a:lnTo>
                    <a:pt x="347663" y="438150"/>
                  </a:lnTo>
                  <a:lnTo>
                    <a:pt x="252413" y="438150"/>
                  </a:lnTo>
                  <a:lnTo>
                    <a:pt x="233363" y="542925"/>
                  </a:lnTo>
                  <a:lnTo>
                    <a:pt x="133350" y="533400"/>
                  </a:lnTo>
                  <a:lnTo>
                    <a:pt x="133350" y="652462"/>
                  </a:lnTo>
                  <a:lnTo>
                    <a:pt x="33338" y="661987"/>
                  </a:lnTo>
                  <a:lnTo>
                    <a:pt x="42863" y="752475"/>
                  </a:lnTo>
                  <a:lnTo>
                    <a:pt x="4763" y="747712"/>
                  </a:lnTo>
                  <a:lnTo>
                    <a:pt x="0" y="857250"/>
                  </a:lnTo>
                  <a:lnTo>
                    <a:pt x="23813" y="852487"/>
                  </a:lnTo>
                  <a:lnTo>
                    <a:pt x="23813" y="995362"/>
                  </a:lnTo>
                  <a:lnTo>
                    <a:pt x="57150" y="1000125"/>
                  </a:lnTo>
                  <a:lnTo>
                    <a:pt x="33338" y="1228725"/>
                  </a:lnTo>
                  <a:lnTo>
                    <a:pt x="80963" y="1228725"/>
                  </a:lnTo>
                  <a:lnTo>
                    <a:pt x="100013" y="1319212"/>
                  </a:lnTo>
                  <a:lnTo>
                    <a:pt x="200025" y="1338262"/>
                  </a:lnTo>
                  <a:lnTo>
                    <a:pt x="200025" y="1438275"/>
                  </a:lnTo>
                  <a:lnTo>
                    <a:pt x="309563" y="1438275"/>
                  </a:lnTo>
                  <a:lnTo>
                    <a:pt x="366713" y="1433512"/>
                  </a:lnTo>
                  <a:lnTo>
                    <a:pt x="371475" y="1643062"/>
                  </a:lnTo>
                  <a:lnTo>
                    <a:pt x="442913" y="1695450"/>
                  </a:lnTo>
                  <a:lnTo>
                    <a:pt x="471488" y="1600200"/>
                  </a:lnTo>
                  <a:lnTo>
                    <a:pt x="542925" y="1585912"/>
                  </a:lnTo>
                  <a:lnTo>
                    <a:pt x="576263" y="1547812"/>
                  </a:lnTo>
                  <a:lnTo>
                    <a:pt x="585788" y="1476375"/>
                  </a:lnTo>
                  <a:lnTo>
                    <a:pt x="619125" y="1514475"/>
                  </a:lnTo>
                  <a:lnTo>
                    <a:pt x="642938" y="1566862"/>
                  </a:lnTo>
                  <a:lnTo>
                    <a:pt x="619125" y="1685925"/>
                  </a:lnTo>
                  <a:lnTo>
                    <a:pt x="600075" y="1766887"/>
                  </a:lnTo>
                  <a:lnTo>
                    <a:pt x="581025" y="1804987"/>
                  </a:lnTo>
                  <a:lnTo>
                    <a:pt x="571500" y="1914525"/>
                  </a:lnTo>
                  <a:lnTo>
                    <a:pt x="600075" y="2024062"/>
                  </a:lnTo>
                  <a:lnTo>
                    <a:pt x="823913" y="2009775"/>
                  </a:lnTo>
                  <a:lnTo>
                    <a:pt x="985838" y="1890712"/>
                  </a:lnTo>
                  <a:lnTo>
                    <a:pt x="1233488" y="1957387"/>
                  </a:lnTo>
                  <a:lnTo>
                    <a:pt x="1066800" y="2019300"/>
                  </a:lnTo>
                  <a:lnTo>
                    <a:pt x="1223963" y="2266950"/>
                  </a:lnTo>
                  <a:lnTo>
                    <a:pt x="1509713" y="2295525"/>
                  </a:lnTo>
                  <a:lnTo>
                    <a:pt x="1519238" y="4762"/>
                  </a:lnTo>
                  <a:lnTo>
                    <a:pt x="1185863" y="0"/>
                  </a:lnTo>
                  <a:cubicBezTo>
                    <a:pt x="1187450" y="77787"/>
                    <a:pt x="1189038" y="155575"/>
                    <a:pt x="1190625" y="233362"/>
                  </a:cubicBezTo>
                  <a:lnTo>
                    <a:pt x="657225" y="247650"/>
                  </a:lnTo>
                  <a:close/>
                </a:path>
              </a:pathLst>
            </a:custGeom>
            <a:solidFill>
              <a:srgbClr val="FFDBD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7D12C2D-AF48-0FF0-673B-B39518F866F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5665" y="5495890"/>
            <a:ext cx="1831273" cy="10624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03DF562-3D73-97F7-8362-29B39ACEF68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65312" y="5495890"/>
            <a:ext cx="1079843" cy="3889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59365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C9C4864-F0FC-7038-3A62-F9A2541A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81F06E37-A8A2-1221-0118-9E0D7BCFE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0786" y="1218840"/>
            <a:ext cx="7158677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GIS – ArcGIS Pro, QGIS</a:t>
            </a:r>
            <a:endParaRPr lang="en" b="1" dirty="0"/>
          </a:p>
          <a:p>
            <a:pPr lvl="0">
              <a:buNone/>
            </a:pPr>
            <a:r>
              <a:rPr lang="en-US" dirty="0"/>
              <a:t>Standard GIS programs do allow for 3D frameworks. Rendering requires good graphic capabilities.</a:t>
            </a:r>
            <a:endParaRPr lang="en" dirty="0"/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3-D Viewers</a:t>
            </a:r>
            <a:endParaRPr lang="en" b="1" dirty="0"/>
          </a:p>
          <a:p>
            <a:pPr lvl="0">
              <a:buNone/>
            </a:pPr>
            <a:r>
              <a:rPr lang="en-US" dirty="0" err="1"/>
              <a:t>Paraview</a:t>
            </a:r>
            <a:r>
              <a:rPr lang="en-US" dirty="0"/>
              <a:t> is fast.</a:t>
            </a:r>
            <a:br>
              <a:rPr lang="en-US" dirty="0"/>
            </a:br>
            <a:r>
              <a:rPr lang="en-US" dirty="0"/>
              <a:t>Leapfrog is for </a:t>
            </a:r>
            <a:br>
              <a:rPr lang="en-US" dirty="0"/>
            </a:br>
            <a:r>
              <a:rPr lang="en-US" dirty="0"/>
              <a:t>Geology.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3-D Grid</a:t>
            </a:r>
          </a:p>
          <a:p>
            <a:pPr lvl="0">
              <a:buNone/>
            </a:pPr>
            <a:r>
              <a:rPr lang="en-US" b="1" dirty="0"/>
              <a:t>Generation</a:t>
            </a:r>
            <a:endParaRPr lang="en" b="1" dirty="0"/>
          </a:p>
          <a:p>
            <a:pPr lvl="0">
              <a:buNone/>
            </a:pPr>
            <a:r>
              <a:rPr lang="en-US" dirty="0" err="1"/>
              <a:t>AlgoMesh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AB4AED4-1BCE-BC7C-D6A0-4FE8B509A868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3D Methods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F2526080-3A11-8EE9-24CA-DF9B13CF8F10}"/>
              </a:ext>
            </a:extLst>
          </p:cNvPr>
          <p:cNvSpPr txBox="1">
            <a:spLocks/>
          </p:cNvSpPr>
          <p:nvPr/>
        </p:nvSpPr>
        <p:spPr>
          <a:xfrm>
            <a:off x="941696" y="673490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Workflows and Viewers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01042986-835E-7DF2-3A05-82903713502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5891" y="2414278"/>
            <a:ext cx="5957324" cy="425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360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2B0E034-051E-E400-E92A-AA031B01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ECC89DEE-D9F9-1FA1-253F-2EBED6FD5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0500" y="1278042"/>
            <a:ext cx="7158677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Simulation of Vadose Zone Processes</a:t>
            </a:r>
            <a:endParaRPr lang="en" b="1" dirty="0"/>
          </a:p>
          <a:p>
            <a:pPr lvl="0">
              <a:buNone/>
            </a:pPr>
            <a:r>
              <a:rPr lang="en-US" dirty="0"/>
              <a:t>The vadose zone is not explicitly modeled in most versions of MODFLOW. Careful attention must be paid implementing unsaturated flow into MODFLOW as convergence issues become more common.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Coupled Surface Water and Groundwater Models</a:t>
            </a:r>
            <a:endParaRPr lang="en" b="1" dirty="0"/>
          </a:p>
          <a:p>
            <a:pPr lvl="0">
              <a:buNone/>
            </a:pPr>
            <a:r>
              <a:rPr lang="en-US" dirty="0"/>
              <a:t>Many recent examples and significant method development. USGS has developed GSFLOW (</a:t>
            </a:r>
            <a:r>
              <a:rPr lang="en-US" dirty="0" err="1"/>
              <a:t>Precip</a:t>
            </a:r>
            <a:r>
              <a:rPr lang="en-US" dirty="0"/>
              <a:t>. Runoff + MODFLOW). </a:t>
            </a:r>
            <a:endParaRPr lang="en" dirty="0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70CC17F2-71B2-140A-02EF-F5BE6AAE4E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48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4A79D-A3EE-1CC4-6447-7EAF34E2AE4F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7385401" cy="1074809"/>
          </a:xfrm>
          <a:prstGeom prst="rect">
            <a:avLst/>
          </a:prstGeom>
        </p:spPr>
        <p:txBody>
          <a:bodyPr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Integrated Hydrological Modeling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F2F961E8-E1A0-8615-27B1-6D97D3946AF3}"/>
              </a:ext>
            </a:extLst>
          </p:cNvPr>
          <p:cNvSpPr txBox="1">
            <a:spLocks/>
          </p:cNvSpPr>
          <p:nvPr/>
        </p:nvSpPr>
        <p:spPr>
          <a:xfrm>
            <a:off x="941696" y="712958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Methods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83CC-633D-A9C2-7372-D6F94CAE8A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391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010019C-DA07-2188-8D9C-56287A27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13386268-8EDD-EC49-B688-B17E0F28E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6042" y="934694"/>
            <a:ext cx="7405431" cy="5452954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PEST – External Parameter Estimation</a:t>
            </a:r>
            <a:endParaRPr lang="en" b="1" dirty="0"/>
          </a:p>
          <a:p>
            <a:pPr lvl="0">
              <a:buNone/>
            </a:pPr>
            <a:r>
              <a:rPr lang="en-US" dirty="0"/>
              <a:t>Calibration of MODFLOW models can be done by implementing a parameter estimation tool that independently runs MODFLOW and collects results. PEST is the standard software used by most but other tools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" dirty="0"/>
          </a:p>
          <a:p>
            <a:pPr lvl="0">
              <a:buNone/>
            </a:pPr>
            <a:r>
              <a:rPr lang="en-US" b="1" dirty="0"/>
              <a:t>Model Calibration within MODFLOW</a:t>
            </a:r>
            <a:endParaRPr lang="en" b="1" dirty="0"/>
          </a:p>
          <a:p>
            <a:pPr lvl="0">
              <a:buNone/>
            </a:pPr>
            <a:r>
              <a:rPr lang="en-US" dirty="0"/>
              <a:t>Implementation of parameters within MODFLOW. These can be used for internal calibration of MODFLOW. The USGS has developed UCODE for this process.</a:t>
            </a:r>
            <a:endParaRPr lang="en" dirty="0"/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F6B9D30F-FA5B-25C9-B446-34F2A7BB46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49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841B56C-5DEC-FC6F-495D-D1533334638D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Calibration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4E3DCC67-14A9-01F4-96FF-8C270687DA57}"/>
              </a:ext>
            </a:extLst>
          </p:cNvPr>
          <p:cNvSpPr txBox="1">
            <a:spLocks/>
          </p:cNvSpPr>
          <p:nvPr/>
        </p:nvSpPr>
        <p:spPr>
          <a:xfrm>
            <a:off x="3829621" y="451769"/>
            <a:ext cx="3544785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Methods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BAFB8F-9A05-FACE-69BF-120F9E8CF88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2651F-F275-B56C-6559-68D4DEF37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773" y="2424850"/>
            <a:ext cx="4114312" cy="2729653"/>
          </a:xfrm>
          <a:prstGeom prst="rect">
            <a:avLst/>
          </a:prstGeom>
        </p:spPr>
      </p:pic>
      <p:sp>
        <p:nvSpPr>
          <p:cNvPr id="4" name="Shape 141">
            <a:extLst>
              <a:ext uri="{FF2B5EF4-FFF2-40B4-BE49-F238E27FC236}">
                <a16:creationId xmlns:a16="http://schemas.microsoft.com/office/drawing/2014/main" id="{E6C1A1C8-363E-E983-A7FD-E48BC9949D5C}"/>
              </a:ext>
            </a:extLst>
          </p:cNvPr>
          <p:cNvSpPr txBox="1">
            <a:spLocks/>
          </p:cNvSpPr>
          <p:nvPr/>
        </p:nvSpPr>
        <p:spPr>
          <a:xfrm>
            <a:off x="2238431" y="3036152"/>
            <a:ext cx="2563862" cy="152685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>
              <a:buNone/>
            </a:pPr>
            <a:r>
              <a:rPr lang="en-US" sz="1600" dirty="0"/>
              <a:t>ADWR (2021).</a:t>
            </a:r>
            <a:br>
              <a:rPr lang="en-US" sz="1600" dirty="0"/>
            </a:br>
            <a:r>
              <a:rPr lang="en-US" sz="1600" dirty="0"/>
              <a:t>2021 Prescott AMA </a:t>
            </a:r>
            <a:br>
              <a:rPr lang="en-US" sz="1600" dirty="0"/>
            </a:br>
            <a:r>
              <a:rPr lang="en-US" sz="1600" dirty="0"/>
              <a:t>Groundwater Flow </a:t>
            </a:r>
            <a:br>
              <a:rPr lang="en-US" sz="1600" dirty="0"/>
            </a:br>
            <a:r>
              <a:rPr lang="en-US" sz="1600" dirty="0"/>
              <a:t>Model Update.</a:t>
            </a:r>
            <a:endParaRPr lang="en" sz="1600" dirty="0"/>
          </a:p>
        </p:txBody>
      </p:sp>
    </p:spTree>
    <p:extLst>
      <p:ext uri="{BB962C8B-B14F-4D97-AF65-F5344CB8AC3E}">
        <p14:creationId xmlns:p14="http://schemas.microsoft.com/office/powerpoint/2010/main" val="2635223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852D86C-F193-5A63-3698-084CF5CC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>
            <a:extLst>
              <a:ext uri="{FF2B5EF4-FFF2-40B4-BE49-F238E27FC236}">
                <a16:creationId xmlns:a16="http://schemas.microsoft.com/office/drawing/2014/main" id="{DF866BB9-D949-9B7D-4EDE-C306E5A92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0500" y="1278042"/>
            <a:ext cx="7158677" cy="4967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Coupled Surface Water and Groundwater Models</a:t>
            </a:r>
            <a:endParaRPr lang="en" b="1" dirty="0"/>
          </a:p>
          <a:p>
            <a:pPr lvl="0">
              <a:buNone/>
            </a:pPr>
            <a:r>
              <a:rPr lang="en-US" dirty="0"/>
              <a:t>Many recent examples have been developed. Continued implementation in Arizona is important.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Coupled or Internal Contaminant Transport and Groundwater Models</a:t>
            </a:r>
            <a:endParaRPr lang="en" b="1" dirty="0"/>
          </a:p>
          <a:p>
            <a:pPr lvl="0">
              <a:buNone/>
            </a:pPr>
            <a:r>
              <a:rPr lang="en-US" dirty="0"/>
              <a:t>Many codes have been developed but the process is resource intensive. Models with geochemical interactions should be used more commonly as computers capabilities improve.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Flow and Transport Animations</a:t>
            </a:r>
            <a:endParaRPr lang="en" b="1" dirty="0"/>
          </a:p>
          <a:p>
            <a:pPr lvl="0">
              <a:buNone/>
            </a:pPr>
            <a:r>
              <a:rPr lang="en-US" dirty="0"/>
              <a:t>Being accomplished through model GUIs, GIS Software and/or automation (Python). These animated result methods can convey a lot of information quickly.</a:t>
            </a:r>
          </a:p>
        </p:txBody>
      </p:sp>
      <p:sp>
        <p:nvSpPr>
          <p:cNvPr id="144" name="Shape 144">
            <a:extLst>
              <a:ext uri="{FF2B5EF4-FFF2-40B4-BE49-F238E27FC236}">
                <a16:creationId xmlns:a16="http://schemas.microsoft.com/office/drawing/2014/main" id="{164C0F9C-6A52-1630-D1A1-389DD766E2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50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93A9790-60DA-95E6-06EA-EAA58F9BE902}"/>
              </a:ext>
            </a:extLst>
          </p:cNvPr>
          <p:cNvSpPr txBox="1">
            <a:spLocks/>
          </p:cNvSpPr>
          <p:nvPr/>
        </p:nvSpPr>
        <p:spPr>
          <a:xfrm>
            <a:off x="136478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LOOKING FORWARD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9A40008C-50D8-92D3-8490-36CA6415B93A}"/>
              </a:ext>
            </a:extLst>
          </p:cNvPr>
          <p:cNvSpPr txBox="1">
            <a:spLocks/>
          </p:cNvSpPr>
          <p:nvPr/>
        </p:nvSpPr>
        <p:spPr>
          <a:xfrm>
            <a:off x="941696" y="712958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Being Developed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5DCD5-F185-40D8-ADC4-7B696FE876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753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0" y="1235706"/>
            <a:ext cx="7601804" cy="4235539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ADWR</a:t>
            </a:r>
            <a:endParaRPr lang="en" b="1" dirty="0"/>
          </a:p>
          <a:p>
            <a:pPr lvl="0">
              <a:buNone/>
            </a:pPr>
            <a:r>
              <a:rPr lang="en-US" dirty="0"/>
              <a:t>Groundwater modeling reports, model datasets and GIS datasets are available.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USGS</a:t>
            </a:r>
            <a:endParaRPr lang="en" b="1" dirty="0"/>
          </a:p>
          <a:p>
            <a:pPr lvl="0">
              <a:buNone/>
            </a:pPr>
            <a:r>
              <a:rPr lang="en-US" dirty="0"/>
              <a:t>  - Primary USGS MODFLOW Repository</a:t>
            </a:r>
          </a:p>
          <a:p>
            <a:pPr lvl="0">
              <a:buNone/>
            </a:pPr>
            <a:r>
              <a:rPr lang="en-US" dirty="0"/>
              <a:t>  - USGS maintains </a:t>
            </a:r>
            <a:r>
              <a:rPr lang="en-US" dirty="0" err="1"/>
              <a:t>Flopy</a:t>
            </a:r>
            <a:r>
              <a:rPr lang="en-US" dirty="0"/>
              <a:t>, the Python wrapper for MODFLOW.</a:t>
            </a:r>
          </a:p>
          <a:p>
            <a:pPr lvl="0">
              <a:buNone/>
            </a:pPr>
            <a:r>
              <a:rPr lang="en-US" dirty="0"/>
              <a:t>  - USGS San Diego Science Center hosts MODFLOW One Water.</a:t>
            </a:r>
          </a:p>
          <a:p>
            <a:pPr lvl="0">
              <a:buNone/>
            </a:pPr>
            <a:r>
              <a:rPr lang="en" sz="1000" dirty="0"/>
              <a:t> </a:t>
            </a:r>
          </a:p>
          <a:p>
            <a:pPr lvl="0">
              <a:buNone/>
            </a:pPr>
            <a:r>
              <a:rPr lang="en-US" b="1" dirty="0" err="1"/>
              <a:t>Hatari</a:t>
            </a:r>
            <a:r>
              <a:rPr lang="en-US" b="1" dirty="0"/>
              <a:t> Labs</a:t>
            </a:r>
            <a:endParaRPr lang="en" b="1" dirty="0"/>
          </a:p>
          <a:p>
            <a:pPr lvl="0">
              <a:buNone/>
            </a:pPr>
            <a:r>
              <a:rPr lang="en-US" dirty="0"/>
              <a:t>A training resource with amazing video tutorials for modeling and GIS methods, varying levels of difficulty. Test datasets and Python scripts are available.</a:t>
            </a:r>
          </a:p>
          <a:p>
            <a:pPr lvl="0">
              <a:buNone/>
            </a:pPr>
            <a:r>
              <a:rPr lang="en" sz="1000" dirty="0"/>
              <a:t>  </a:t>
            </a:r>
          </a:p>
          <a:p>
            <a:pPr lvl="0">
              <a:buNone/>
            </a:pPr>
            <a:r>
              <a:rPr lang="en-US" b="1" dirty="0"/>
              <a:t>S.S. Papadopulos and Associates (SSPA)</a:t>
            </a:r>
            <a:endParaRPr lang="en" b="1" dirty="0"/>
          </a:p>
          <a:p>
            <a:pPr lvl="0">
              <a:buNone/>
            </a:pPr>
            <a:r>
              <a:rPr lang="en-US" dirty="0"/>
              <a:t>Free tools for particle trace analyses, a model GUI (Groundwater Desktop), free contaminant transport codes.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51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28190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RESOURCES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738356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Websites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424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120460"/>
            <a:ext cx="7303980" cy="554958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USGS Guidance Documents</a:t>
            </a:r>
            <a:endParaRPr lang="en" b="1" dirty="0"/>
          </a:p>
          <a:p>
            <a:pPr lvl="0">
              <a:buNone/>
            </a:pPr>
            <a:r>
              <a:rPr lang="en-US" dirty="0"/>
              <a:t>The user manuals for specific versions of MODFLOW and individual packages. Good input/output instructions at the </a:t>
            </a:r>
            <a:br>
              <a:rPr lang="en-US" dirty="0"/>
            </a:br>
            <a:r>
              <a:rPr lang="en-US" dirty="0"/>
              <a:t>end of guides.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Applied Groundwater Modeling, Second Edition: Simulation of Flow and and Advective Transport</a:t>
            </a:r>
            <a:endParaRPr lang="en" b="1" dirty="0"/>
          </a:p>
          <a:p>
            <a:pPr lvl="0">
              <a:buNone/>
            </a:pPr>
            <a:r>
              <a:rPr lang="en-US" dirty="0"/>
              <a:t>Anderson, Woessner, Hunt (2015). Re-released classic book from 2002 has been expanded for the current digital world. 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Effective Groundwater Model Calibration: With Analysis of Data, Sensitivities, Predictions, and Uncertainty</a:t>
            </a:r>
          </a:p>
          <a:p>
            <a:pPr lvl="0">
              <a:buNone/>
            </a:pPr>
            <a:r>
              <a:rPr lang="en-US" dirty="0"/>
              <a:t>Hill and </a:t>
            </a:r>
            <a:r>
              <a:rPr lang="en-US" dirty="0" err="1"/>
              <a:t>Tiedemen</a:t>
            </a:r>
            <a:r>
              <a:rPr lang="en-US" dirty="0"/>
              <a:t> (2005). Reputable book about applied statistics for calibration of models.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ASTM Standards</a:t>
            </a:r>
          </a:p>
          <a:p>
            <a:pPr lvl="0">
              <a:buNone/>
            </a:pPr>
            <a:r>
              <a:rPr lang="en-US" dirty="0"/>
              <a:t>A simple set of standard guidance documents that are useful and defensible.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52</a:t>
            </a:fld>
            <a:endParaRPr lang="e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28190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RESOURCES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637308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Written Material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22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00501" y="1371177"/>
            <a:ext cx="6630032" cy="508889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b="1" dirty="0"/>
              <a:t>Groundwater Resources Association (GRA)</a:t>
            </a:r>
            <a:endParaRPr lang="en" b="1" dirty="0"/>
          </a:p>
          <a:p>
            <a:pPr lvl="0">
              <a:buNone/>
            </a:pPr>
            <a:r>
              <a:rPr lang="en-US" dirty="0"/>
              <a:t>MODFLOW training course at UC Davis campus.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AHS Phoenix / Tucson Chapters</a:t>
            </a:r>
            <a:endParaRPr lang="en" b="1" dirty="0"/>
          </a:p>
          <a:p>
            <a:pPr lvl="0">
              <a:buNone/>
            </a:pPr>
            <a:r>
              <a:rPr lang="en-US" dirty="0"/>
              <a:t>Potentially offering training sessions on MODFLOW, not yet announced for 2026. We are taking suggestions.</a:t>
            </a:r>
            <a:endParaRPr lang="en" dirty="0"/>
          </a:p>
          <a:p>
            <a:pPr lvl="0">
              <a:spcBef>
                <a:spcPts val="0"/>
              </a:spcBef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USGS</a:t>
            </a:r>
            <a:endParaRPr lang="en" b="1" dirty="0"/>
          </a:p>
          <a:p>
            <a:pPr lvl="0">
              <a:buNone/>
            </a:pPr>
            <a:r>
              <a:rPr lang="en-US" dirty="0"/>
              <a:t>The authors of MODFLOW offer training on using MODFLOW and </a:t>
            </a:r>
            <a:r>
              <a:rPr lang="en-US" dirty="0" err="1"/>
              <a:t>Flopy</a:t>
            </a:r>
            <a:r>
              <a:rPr lang="en-US" dirty="0"/>
              <a:t>. Has been affected by recent job status changes from Federal employees to private consulting companies.</a:t>
            </a:r>
          </a:p>
          <a:p>
            <a:pPr lvl="0">
              <a:buNone/>
            </a:pPr>
            <a:endParaRPr lang="en" sz="1000" dirty="0"/>
          </a:p>
          <a:p>
            <a:pPr lvl="0">
              <a:buNone/>
            </a:pPr>
            <a:r>
              <a:rPr lang="en-US" b="1" dirty="0"/>
              <a:t>GSI Environmental Inc. (Sorab Panday)</a:t>
            </a:r>
            <a:endParaRPr lang="en" b="1" dirty="0"/>
          </a:p>
          <a:p>
            <a:pPr lvl="0">
              <a:buNone/>
            </a:pPr>
            <a:r>
              <a:rPr lang="en-US" dirty="0"/>
              <a:t>MODFLOW solvers class offered approximately every 6 months. This is an advanced level class.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53</a:t>
            </a:fld>
            <a:endParaRPr lang="e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C08EB-10E4-4E7B-898C-8F54714EF12B}"/>
              </a:ext>
            </a:extLst>
          </p:cNvPr>
          <p:cNvSpPr txBox="1">
            <a:spLocks/>
          </p:cNvSpPr>
          <p:nvPr/>
        </p:nvSpPr>
        <p:spPr>
          <a:xfrm>
            <a:off x="28190" y="97081"/>
            <a:ext cx="5910655" cy="107480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solidFill>
                  <a:srgbClr val="3499CD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MODELING RESOURCES</a:t>
            </a:r>
            <a:endParaRPr lang="en-US" sz="2400" b="1" i="1" dirty="0"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141">
            <a:extLst>
              <a:ext uri="{FF2B5EF4-FFF2-40B4-BE49-F238E27FC236}">
                <a16:creationId xmlns:a16="http://schemas.microsoft.com/office/drawing/2014/main" id="{C861956A-1C74-4779-A7F3-245A5DF45C38}"/>
              </a:ext>
            </a:extLst>
          </p:cNvPr>
          <p:cNvSpPr txBox="1">
            <a:spLocks/>
          </p:cNvSpPr>
          <p:nvPr/>
        </p:nvSpPr>
        <p:spPr>
          <a:xfrm>
            <a:off x="941696" y="831492"/>
            <a:ext cx="6032310" cy="5750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ctr">
              <a:buFont typeface="Source Sans Pro"/>
              <a:buNone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</a:t>
            </a:r>
            <a:endParaRPr lang="e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7B928-AB99-4CC8-99CB-3817CADAB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9178" y="6180561"/>
            <a:ext cx="475843" cy="55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18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 txBox="1">
            <a:spLocks noGrp="1"/>
          </p:cNvSpPr>
          <p:nvPr>
            <p:ph type="ctrTitle" idx="4294967295"/>
          </p:nvPr>
        </p:nvSpPr>
        <p:spPr>
          <a:xfrm>
            <a:off x="685800" y="174173"/>
            <a:ext cx="7772400" cy="15465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6000" b="1" dirty="0">
                <a:solidFill>
                  <a:srgbClr val="5FAFD7"/>
                </a:solidFill>
                <a:latin typeface="Segoe UI" panose="020B0502040204020203" pitchFamily="34" charset="0"/>
                <a:ea typeface="Tahoma" panose="020B0604030504040204" pitchFamily="34" charset="0"/>
                <a:cs typeface="Segoe UI" panose="020B0502040204020203" pitchFamily="34" charset="0"/>
              </a:rPr>
              <a:t>The End</a:t>
            </a:r>
            <a:endParaRPr lang="en" sz="6000" b="1" dirty="0">
              <a:solidFill>
                <a:srgbClr val="5FAFD7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76" name="Shape 376"/>
          <p:cNvSpPr txBox="1">
            <a:spLocks noGrp="1"/>
          </p:cNvSpPr>
          <p:nvPr>
            <p:ph type="subTitle" idx="4294967295"/>
          </p:nvPr>
        </p:nvSpPr>
        <p:spPr>
          <a:xfrm>
            <a:off x="1275150" y="1538049"/>
            <a:ext cx="6593700" cy="104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</a:t>
            </a:r>
            <a:r>
              <a:rPr lang="en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uestions?</a:t>
            </a:r>
          </a:p>
        </p:txBody>
      </p:sp>
      <p:sp>
        <p:nvSpPr>
          <p:cNvPr id="378" name="Shape 378"/>
          <p:cNvSpPr txBox="1">
            <a:spLocks noGrp="1"/>
          </p:cNvSpPr>
          <p:nvPr>
            <p:ph type="sldNum" idx="12"/>
          </p:nvPr>
        </p:nvSpPr>
        <p:spPr>
          <a:xfrm>
            <a:off x="8404384" y="6333134"/>
            <a:ext cx="548700" cy="525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54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6FFA3B-9378-4CD1-A9F4-5D9F338D03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0453" y="2218844"/>
            <a:ext cx="3621286" cy="357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14345"/>
      </p:ext>
    </p:extLst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7833</TotalTime>
  <Words>3105</Words>
  <Application>Microsoft Office PowerPoint</Application>
  <PresentationFormat>On-screen Show (4:3)</PresentationFormat>
  <Paragraphs>581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Wingdings 2</vt:lpstr>
      <vt:lpstr>Cambria Math</vt:lpstr>
      <vt:lpstr>Tahoma</vt:lpstr>
      <vt:lpstr>Roboto Slab</vt:lpstr>
      <vt:lpstr>Segoe UI</vt:lpstr>
      <vt:lpstr>Source Sans Pro</vt:lpstr>
      <vt:lpstr>Arial</vt:lpstr>
      <vt:lpstr>Cordelia template</vt:lpstr>
      <vt:lpstr>Introduction to Building and Running Groundwater Models</vt:lpstr>
      <vt:lpstr>BIOS</vt:lpstr>
      <vt:lpstr>OVERVIEW  Workshop 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S_s  ∂h/∂t=∂/∂x (K_xx  ∂h/∂x)+∂/∂y (K_yy  ∂h/∂y)+∂/∂z (K_zz  ∂h/∂z) - 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SECTION 2</vt:lpstr>
      <vt:lpstr>SECTION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Justin A. Clark</dc:creator>
  <cp:lastModifiedBy>Home</cp:lastModifiedBy>
  <cp:revision>333</cp:revision>
  <cp:lastPrinted>2018-09-17T22:02:22Z</cp:lastPrinted>
  <dcterms:modified xsi:type="dcterms:W3CDTF">2026-04-09T16:39:20Z</dcterms:modified>
</cp:coreProperties>
</file>